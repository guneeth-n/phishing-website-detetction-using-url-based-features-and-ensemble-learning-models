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59" r:id="rId5"/>
    <p:sldId id="260" r:id="rId6"/>
    <p:sldId id="261" r:id="rId7"/>
    <p:sldId id="262" r:id="rId8"/>
    <p:sldId id="267" r:id="rId9"/>
    <p:sldId id="263" r:id="rId10"/>
    <p:sldId id="268" r:id="rId11"/>
    <p:sldId id="264" r:id="rId12"/>
    <p:sldId id="265" r:id="rId13"/>
    <p:sldId id="269" r:id="rId14"/>
    <p:sldId id="278" r:id="rId15"/>
    <p:sldId id="279" r:id="rId16"/>
    <p:sldId id="274" r:id="rId17"/>
    <p:sldId id="275" r:id="rId18"/>
    <p:sldId id="277" r:id="rId19"/>
    <p:sldId id="276" r:id="rId20"/>
    <p:sldId id="283" r:id="rId21"/>
    <p:sldId id="280" r:id="rId22"/>
    <p:sldId id="281" r:id="rId23"/>
    <p:sldId id="282" r:id="rId24"/>
  </p:sldIdLst>
  <p:sldSz cx="12192000" cy="6858000"/>
  <p:notesSz cx="6858000" cy="9144000"/>
  <p:defaultTextStyle>
    <a:defPPr>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6ECE7D-AE16-4DED-92E9-BB838703EBE7}" v="21" dt="2026-03-16T14:08:01.420"/>
  </p1510:revLst>
</p1510:revInfo>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559" autoAdjust="0"/>
  </p:normalViewPr>
  <p:slideViewPr>
    <p:cSldViewPr snapToGrid="0">
      <p:cViewPr varScale="1">
        <p:scale>
          <a:sx n="77" d="100"/>
          <a:sy n="77" d="100"/>
        </p:scale>
        <p:origin x="91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4B694-4CF1-4AA0-BBB4-B8E6FDF872E1}" type="datetimeFigureOut">
              <a:rPr lang="en-IN" smtClean="0"/>
              <a:t>03-06-2026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769B1-005B-481A-94B8-B139A3E2FBEA}" type="slidenum">
              <a:rPr lang="en-IN" smtClean="0"/>
              <a:t>‹#›</a:t>
            </a:fld>
            <a:endParaRPr lang="en-IN"/>
          </a:p>
        </p:txBody>
      </p:sp>
    </p:spTree>
    <p:extLst>
      <p:ext uri="{BB962C8B-B14F-4D97-AF65-F5344CB8AC3E}">
        <p14:creationId xmlns:p14="http://schemas.microsoft.com/office/powerpoint/2010/main" val="3585778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000412" y="189052"/>
            <a:ext cx="3617805" cy="830997"/>
          </a:xfrm>
          <a:prstGeom prst="rect">
            <a:avLst/>
          </a:prstGeom>
        </p:spPr>
        <p:txBody>
          <a:bodyPr wrap="square" lIns="0" tIns="0" rIns="0" bIns="0">
            <a:spAutoFit/>
          </a:bodyPr>
          <a:lstStyle>
            <a:lvl1pPr>
              <a:defRPr sz="2700" b="1" i="0">
                <a:solidFill>
                  <a:schemeClr val="tx1"/>
                </a:solidFill>
                <a:latin typeface="Arial"/>
                <a:cs typeface="Arial"/>
              </a:defRPr>
            </a:lvl1pPr>
          </a:lstStyle>
          <a:p>
            <a:r>
              <a:rPr lang="en-US"/>
              <a:t>Click to edit Master title style</a:t>
            </a:r>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defRPr sz="1200" b="0" i="0">
                <a:solidFill>
                  <a:schemeClr val="bg1"/>
                </a:solidFill>
                <a:latin typeface="Arial MT"/>
                <a:cs typeface="Arial MT"/>
              </a:defRPr>
            </a:lvl1pPr>
          </a:lstStyle>
          <a:p>
            <a:endParaRPr lang="en-IN"/>
          </a:p>
        </p:txBody>
      </p:sp>
      <p:sp>
        <p:nvSpPr>
          <p:cNvPr id="5" name="Holder 5"/>
          <p:cNvSpPr>
            <a:spLocks noGrp="1"/>
          </p:cNvSpPr>
          <p:nvPr>
            <p:ph type="dt" sz="half" idx="6"/>
          </p:nvPr>
        </p:nvSpPr>
        <p:spPr/>
        <p:txBody>
          <a:bodyPr lIns="0" tIns="0" rIns="0" bIns="0"/>
          <a:lstStyle>
            <a:lvl1pPr>
              <a:defRPr sz="1200" b="0" i="0">
                <a:solidFill>
                  <a:srgbClr val="7E7E7E"/>
                </a:solidFill>
                <a:latin typeface="Arial MT"/>
                <a:cs typeface="Arial MT"/>
              </a:defRPr>
            </a:lvl1pPr>
          </a:lstStyle>
          <a:p>
            <a:fld id="{5CFB2E39-FAE3-497E-904F-71DADF1E9618}" type="datetimeFigureOut">
              <a:rPr lang="en-IN" smtClean="0"/>
              <a:t>03-06-2026</a:t>
            </a:fld>
            <a:endParaRPr lang="en-IN"/>
          </a:p>
        </p:txBody>
      </p:sp>
      <p:sp>
        <p:nvSpPr>
          <p:cNvPr id="6" name="Holder 6"/>
          <p:cNvSpPr>
            <a:spLocks noGrp="1"/>
          </p:cNvSpPr>
          <p:nvPr>
            <p:ph type="sldNum" sz="quarter" idx="7"/>
          </p:nvPr>
        </p:nvSpPr>
        <p:spPr/>
        <p:txBody>
          <a:bodyPr lIns="0" tIns="0" rIns="0" bIns="0"/>
          <a:lstStyle>
            <a:lvl1pPr>
              <a:defRPr sz="1350" b="0" i="0">
                <a:solidFill>
                  <a:schemeClr val="bg1"/>
                </a:solidFill>
                <a:latin typeface="Arial MT"/>
                <a:cs typeface="Arial MT"/>
              </a:defRPr>
            </a:lvl1pPr>
          </a:lstStyle>
          <a:p>
            <a:fld id="{1E37BA89-29FA-4E18-8E32-023880C5AA63}" type="slidenum">
              <a:rPr lang="en-IN" smtClean="0"/>
              <a:t>‹#›</a:t>
            </a:fld>
            <a:endParaRPr lang="en-IN"/>
          </a:p>
        </p:txBody>
      </p:sp>
    </p:spTree>
    <p:extLst>
      <p:ext uri="{BB962C8B-B14F-4D97-AF65-F5344CB8AC3E}">
        <p14:creationId xmlns:p14="http://schemas.microsoft.com/office/powerpoint/2010/main" val="3499668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chemeClr val="tx1"/>
                </a:solidFill>
                <a:latin typeface="Arial"/>
                <a:cs typeface="Arial"/>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defRPr sz="1200" b="0" i="0">
                <a:solidFill>
                  <a:schemeClr val="bg1"/>
                </a:solidFill>
                <a:latin typeface="Arial MT"/>
                <a:cs typeface="Arial MT"/>
              </a:defRPr>
            </a:lvl1pPr>
          </a:lstStyle>
          <a:p>
            <a:endParaRPr lang="en-IN"/>
          </a:p>
        </p:txBody>
      </p:sp>
      <p:sp>
        <p:nvSpPr>
          <p:cNvPr id="5" name="Holder 5"/>
          <p:cNvSpPr>
            <a:spLocks noGrp="1"/>
          </p:cNvSpPr>
          <p:nvPr>
            <p:ph type="dt" sz="half" idx="6"/>
          </p:nvPr>
        </p:nvSpPr>
        <p:spPr/>
        <p:txBody>
          <a:bodyPr lIns="0" tIns="0" rIns="0" bIns="0"/>
          <a:lstStyle>
            <a:lvl1pPr>
              <a:defRPr sz="1200" b="0" i="0">
                <a:solidFill>
                  <a:srgbClr val="7E7E7E"/>
                </a:solidFill>
                <a:latin typeface="Arial MT"/>
                <a:cs typeface="Arial MT"/>
              </a:defRPr>
            </a:lvl1pPr>
          </a:lstStyle>
          <a:p>
            <a:fld id="{5CFB2E39-FAE3-497E-904F-71DADF1E9618}" type="datetimeFigureOut">
              <a:rPr lang="en-IN" smtClean="0"/>
              <a:t>03-06-2026</a:t>
            </a:fld>
            <a:endParaRPr lang="en-IN"/>
          </a:p>
        </p:txBody>
      </p:sp>
      <p:sp>
        <p:nvSpPr>
          <p:cNvPr id="6" name="Holder 6"/>
          <p:cNvSpPr>
            <a:spLocks noGrp="1"/>
          </p:cNvSpPr>
          <p:nvPr>
            <p:ph type="sldNum" sz="quarter" idx="7"/>
          </p:nvPr>
        </p:nvSpPr>
        <p:spPr/>
        <p:txBody>
          <a:bodyPr lIns="0" tIns="0" rIns="0" bIns="0"/>
          <a:lstStyle>
            <a:lvl1pPr>
              <a:defRPr sz="1350" b="0" i="0">
                <a:solidFill>
                  <a:schemeClr val="bg1"/>
                </a:solidFill>
                <a:latin typeface="Arial MT"/>
                <a:cs typeface="Arial MT"/>
              </a:defRPr>
            </a:lvl1pPr>
          </a:lstStyle>
          <a:p>
            <a:fld id="{1E37BA89-29FA-4E18-8E32-023880C5AA63}" type="slidenum">
              <a:rPr lang="en-IN" smtClean="0"/>
              <a:t>‹#›</a:t>
            </a:fld>
            <a:endParaRPr lang="en-IN"/>
          </a:p>
        </p:txBody>
      </p:sp>
    </p:spTree>
    <p:extLst>
      <p:ext uri="{BB962C8B-B14F-4D97-AF65-F5344CB8AC3E}">
        <p14:creationId xmlns:p14="http://schemas.microsoft.com/office/powerpoint/2010/main" val="3482284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chemeClr val="tx1"/>
                </a:solidFill>
                <a:latin typeface="Arial"/>
                <a:cs typeface="Arial"/>
              </a:defRPr>
            </a:lvl1pPr>
          </a:lstStyle>
          <a:p>
            <a:r>
              <a:rPr lang="en-US"/>
              <a:t>Click to edit Master title style</a:t>
            </a:r>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defRPr sz="1200" b="0" i="0">
                <a:solidFill>
                  <a:schemeClr val="bg1"/>
                </a:solidFill>
                <a:latin typeface="Arial MT"/>
                <a:cs typeface="Arial MT"/>
              </a:defRPr>
            </a:lvl1pPr>
          </a:lstStyle>
          <a:p>
            <a:endParaRPr lang="en-IN"/>
          </a:p>
        </p:txBody>
      </p:sp>
      <p:sp>
        <p:nvSpPr>
          <p:cNvPr id="6" name="Holder 6"/>
          <p:cNvSpPr>
            <a:spLocks noGrp="1"/>
          </p:cNvSpPr>
          <p:nvPr>
            <p:ph type="dt" sz="half" idx="6"/>
          </p:nvPr>
        </p:nvSpPr>
        <p:spPr/>
        <p:txBody>
          <a:bodyPr lIns="0" tIns="0" rIns="0" bIns="0"/>
          <a:lstStyle>
            <a:lvl1pPr>
              <a:defRPr sz="1200" b="0" i="0">
                <a:solidFill>
                  <a:srgbClr val="7E7E7E"/>
                </a:solidFill>
                <a:latin typeface="Arial MT"/>
                <a:cs typeface="Arial MT"/>
              </a:defRPr>
            </a:lvl1pPr>
          </a:lstStyle>
          <a:p>
            <a:fld id="{5CFB2E39-FAE3-497E-904F-71DADF1E9618}" type="datetimeFigureOut">
              <a:rPr lang="en-IN" smtClean="0"/>
              <a:t>03-06-2026</a:t>
            </a:fld>
            <a:endParaRPr lang="en-IN"/>
          </a:p>
        </p:txBody>
      </p:sp>
      <p:sp>
        <p:nvSpPr>
          <p:cNvPr id="7" name="Holder 7"/>
          <p:cNvSpPr>
            <a:spLocks noGrp="1"/>
          </p:cNvSpPr>
          <p:nvPr>
            <p:ph type="sldNum" sz="quarter" idx="7"/>
          </p:nvPr>
        </p:nvSpPr>
        <p:spPr/>
        <p:txBody>
          <a:bodyPr lIns="0" tIns="0" rIns="0" bIns="0"/>
          <a:lstStyle>
            <a:lvl1pPr>
              <a:defRPr sz="1350" b="0" i="0">
                <a:solidFill>
                  <a:schemeClr val="bg1"/>
                </a:solidFill>
                <a:latin typeface="Arial MT"/>
                <a:cs typeface="Arial MT"/>
              </a:defRPr>
            </a:lvl1pPr>
          </a:lstStyle>
          <a:p>
            <a:fld id="{1E37BA89-29FA-4E18-8E32-023880C5AA63}" type="slidenum">
              <a:rPr lang="en-IN" smtClean="0"/>
              <a:t>‹#›</a:t>
            </a:fld>
            <a:endParaRPr lang="en-IN"/>
          </a:p>
        </p:txBody>
      </p:sp>
    </p:spTree>
    <p:extLst>
      <p:ext uri="{BB962C8B-B14F-4D97-AF65-F5344CB8AC3E}">
        <p14:creationId xmlns:p14="http://schemas.microsoft.com/office/powerpoint/2010/main" val="938017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chemeClr val="tx1"/>
                </a:solidFill>
                <a:latin typeface="Arial"/>
                <a:cs typeface="Arial"/>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defRPr sz="1200" b="0" i="0">
                <a:solidFill>
                  <a:schemeClr val="bg1"/>
                </a:solidFill>
                <a:latin typeface="Arial MT"/>
                <a:cs typeface="Arial MT"/>
              </a:defRPr>
            </a:lvl1pPr>
          </a:lstStyle>
          <a:p>
            <a:endParaRPr lang="en-IN"/>
          </a:p>
        </p:txBody>
      </p:sp>
      <p:sp>
        <p:nvSpPr>
          <p:cNvPr id="4" name="Holder 4"/>
          <p:cNvSpPr>
            <a:spLocks noGrp="1"/>
          </p:cNvSpPr>
          <p:nvPr>
            <p:ph type="dt" sz="half" idx="6"/>
          </p:nvPr>
        </p:nvSpPr>
        <p:spPr/>
        <p:txBody>
          <a:bodyPr lIns="0" tIns="0" rIns="0" bIns="0"/>
          <a:lstStyle>
            <a:lvl1pPr>
              <a:defRPr sz="1200" b="0" i="0">
                <a:solidFill>
                  <a:srgbClr val="7E7E7E"/>
                </a:solidFill>
                <a:latin typeface="Arial MT"/>
                <a:cs typeface="Arial MT"/>
              </a:defRPr>
            </a:lvl1pPr>
          </a:lstStyle>
          <a:p>
            <a:fld id="{5CFB2E39-FAE3-497E-904F-71DADF1E9618}" type="datetimeFigureOut">
              <a:rPr lang="en-IN" smtClean="0"/>
              <a:t>03-06-2026</a:t>
            </a:fld>
            <a:endParaRPr lang="en-IN"/>
          </a:p>
        </p:txBody>
      </p:sp>
      <p:sp>
        <p:nvSpPr>
          <p:cNvPr id="5" name="Holder 5"/>
          <p:cNvSpPr>
            <a:spLocks noGrp="1"/>
          </p:cNvSpPr>
          <p:nvPr>
            <p:ph type="sldNum" sz="quarter" idx="7"/>
          </p:nvPr>
        </p:nvSpPr>
        <p:spPr/>
        <p:txBody>
          <a:bodyPr lIns="0" tIns="0" rIns="0" bIns="0"/>
          <a:lstStyle>
            <a:lvl1pPr>
              <a:defRPr sz="1350" b="0" i="0">
                <a:solidFill>
                  <a:schemeClr val="bg1"/>
                </a:solidFill>
                <a:latin typeface="Arial MT"/>
                <a:cs typeface="Arial MT"/>
              </a:defRPr>
            </a:lvl1pPr>
          </a:lstStyle>
          <a:p>
            <a:fld id="{1E37BA89-29FA-4E18-8E32-023880C5AA63}" type="slidenum">
              <a:rPr lang="en-IN" smtClean="0"/>
              <a:t>‹#›</a:t>
            </a:fld>
            <a:endParaRPr lang="en-IN"/>
          </a:p>
        </p:txBody>
      </p:sp>
    </p:spTree>
    <p:extLst>
      <p:ext uri="{BB962C8B-B14F-4D97-AF65-F5344CB8AC3E}">
        <p14:creationId xmlns:p14="http://schemas.microsoft.com/office/powerpoint/2010/main" val="1016474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bg1"/>
                </a:solidFill>
                <a:latin typeface="Arial MT"/>
                <a:cs typeface="Arial MT"/>
              </a:defRPr>
            </a:lvl1pPr>
          </a:lstStyle>
          <a:p>
            <a:endParaRPr lang="en-IN"/>
          </a:p>
        </p:txBody>
      </p:sp>
      <p:sp>
        <p:nvSpPr>
          <p:cNvPr id="3" name="Holder 3"/>
          <p:cNvSpPr>
            <a:spLocks noGrp="1"/>
          </p:cNvSpPr>
          <p:nvPr>
            <p:ph type="dt" sz="half" idx="6"/>
          </p:nvPr>
        </p:nvSpPr>
        <p:spPr/>
        <p:txBody>
          <a:bodyPr lIns="0" tIns="0" rIns="0" bIns="0"/>
          <a:lstStyle>
            <a:lvl1pPr>
              <a:defRPr sz="1200" b="0" i="0">
                <a:solidFill>
                  <a:srgbClr val="7E7E7E"/>
                </a:solidFill>
                <a:latin typeface="Arial MT"/>
                <a:cs typeface="Arial MT"/>
              </a:defRPr>
            </a:lvl1pPr>
          </a:lstStyle>
          <a:p>
            <a:fld id="{5CFB2E39-FAE3-497E-904F-71DADF1E9618}" type="datetimeFigureOut">
              <a:rPr lang="en-IN" smtClean="0"/>
              <a:t>03-06-2026</a:t>
            </a:fld>
            <a:endParaRPr lang="en-IN"/>
          </a:p>
        </p:txBody>
      </p:sp>
      <p:sp>
        <p:nvSpPr>
          <p:cNvPr id="4" name="Holder 4"/>
          <p:cNvSpPr>
            <a:spLocks noGrp="1"/>
          </p:cNvSpPr>
          <p:nvPr>
            <p:ph type="sldNum" sz="quarter" idx="7"/>
          </p:nvPr>
        </p:nvSpPr>
        <p:spPr/>
        <p:txBody>
          <a:bodyPr lIns="0" tIns="0" rIns="0" bIns="0"/>
          <a:lstStyle>
            <a:lvl1pPr>
              <a:defRPr sz="1350" b="0" i="0">
                <a:solidFill>
                  <a:schemeClr val="bg1"/>
                </a:solidFill>
                <a:latin typeface="Arial MT"/>
                <a:cs typeface="Arial MT"/>
              </a:defRPr>
            </a:lvl1pPr>
          </a:lstStyle>
          <a:p>
            <a:fld id="{1E37BA89-29FA-4E18-8E32-023880C5AA63}" type="slidenum">
              <a:rPr lang="en-IN" smtClean="0"/>
              <a:t>‹#›</a:t>
            </a:fld>
            <a:endParaRPr lang="en-IN"/>
          </a:p>
        </p:txBody>
      </p:sp>
    </p:spTree>
    <p:extLst>
      <p:ext uri="{BB962C8B-B14F-4D97-AF65-F5344CB8AC3E}">
        <p14:creationId xmlns:p14="http://schemas.microsoft.com/office/powerpoint/2010/main" val="582583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252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80046"/>
            <a:ext cx="12192000" cy="378460"/>
          </a:xfrm>
          <a:custGeom>
            <a:avLst/>
            <a:gdLst/>
            <a:ahLst/>
            <a:cxnLst/>
            <a:rect l="l" t="t" r="r" b="b"/>
            <a:pathLst>
              <a:path w="9144000" h="378459">
                <a:moveTo>
                  <a:pt x="9144000" y="0"/>
                </a:moveTo>
                <a:lnTo>
                  <a:pt x="0" y="0"/>
                </a:lnTo>
                <a:lnTo>
                  <a:pt x="0" y="377953"/>
                </a:lnTo>
                <a:lnTo>
                  <a:pt x="9144000" y="377953"/>
                </a:lnTo>
                <a:lnTo>
                  <a:pt x="9144000" y="0"/>
                </a:lnTo>
                <a:close/>
              </a:path>
            </a:pathLst>
          </a:custGeom>
          <a:solidFill>
            <a:srgbClr val="252573"/>
          </a:solidFill>
        </p:spPr>
        <p:txBody>
          <a:bodyPr wrap="square" lIns="0" tIns="0" rIns="0" bIns="0" rtlCol="0"/>
          <a:lstStyle/>
          <a:p>
            <a:endParaRPr sz="1800"/>
          </a:p>
        </p:txBody>
      </p:sp>
      <p:sp>
        <p:nvSpPr>
          <p:cNvPr id="17" name="bg object 17"/>
          <p:cNvSpPr/>
          <p:nvPr/>
        </p:nvSpPr>
        <p:spPr>
          <a:xfrm>
            <a:off x="0" y="6480046"/>
            <a:ext cx="12192000" cy="378460"/>
          </a:xfrm>
          <a:custGeom>
            <a:avLst/>
            <a:gdLst/>
            <a:ahLst/>
            <a:cxnLst/>
            <a:rect l="l" t="t" r="r" b="b"/>
            <a:pathLst>
              <a:path w="9144000" h="378459">
                <a:moveTo>
                  <a:pt x="9144000" y="377953"/>
                </a:moveTo>
                <a:lnTo>
                  <a:pt x="9144000" y="0"/>
                </a:lnTo>
                <a:lnTo>
                  <a:pt x="0" y="0"/>
                </a:lnTo>
                <a:lnTo>
                  <a:pt x="0" y="377953"/>
                </a:lnTo>
              </a:path>
            </a:pathLst>
          </a:custGeom>
          <a:ln w="9525">
            <a:solidFill>
              <a:srgbClr val="000000"/>
            </a:solidFill>
          </a:ln>
        </p:spPr>
        <p:txBody>
          <a:bodyPr wrap="square" lIns="0" tIns="0" rIns="0" bIns="0" rtlCol="0"/>
          <a:lstStyle/>
          <a:p>
            <a:endParaRPr sz="1800"/>
          </a:p>
        </p:txBody>
      </p:sp>
      <p:sp>
        <p:nvSpPr>
          <p:cNvPr id="18" name="bg object 18"/>
          <p:cNvSpPr/>
          <p:nvPr/>
        </p:nvSpPr>
        <p:spPr>
          <a:xfrm>
            <a:off x="0" y="826008"/>
            <a:ext cx="12192000" cy="120650"/>
          </a:xfrm>
          <a:custGeom>
            <a:avLst/>
            <a:gdLst/>
            <a:ahLst/>
            <a:cxnLst/>
            <a:rect l="l" t="t" r="r" b="b"/>
            <a:pathLst>
              <a:path w="9144000" h="120650">
                <a:moveTo>
                  <a:pt x="9144000" y="0"/>
                </a:moveTo>
                <a:lnTo>
                  <a:pt x="0" y="0"/>
                </a:lnTo>
                <a:lnTo>
                  <a:pt x="0" y="120396"/>
                </a:lnTo>
                <a:lnTo>
                  <a:pt x="9144000" y="120396"/>
                </a:lnTo>
                <a:lnTo>
                  <a:pt x="9144000" y="0"/>
                </a:lnTo>
                <a:close/>
              </a:path>
            </a:pathLst>
          </a:custGeom>
          <a:solidFill>
            <a:srgbClr val="252573"/>
          </a:solidFill>
        </p:spPr>
        <p:txBody>
          <a:bodyPr wrap="square" lIns="0" tIns="0" rIns="0" bIns="0" rtlCol="0"/>
          <a:lstStyle/>
          <a:p>
            <a:endParaRPr sz="1800"/>
          </a:p>
        </p:txBody>
      </p:sp>
      <p:sp>
        <p:nvSpPr>
          <p:cNvPr id="19" name="bg object 19"/>
          <p:cNvSpPr/>
          <p:nvPr/>
        </p:nvSpPr>
        <p:spPr>
          <a:xfrm>
            <a:off x="0" y="826008"/>
            <a:ext cx="12192000" cy="120650"/>
          </a:xfrm>
          <a:custGeom>
            <a:avLst/>
            <a:gdLst/>
            <a:ahLst/>
            <a:cxnLst/>
            <a:rect l="l" t="t" r="r" b="b"/>
            <a:pathLst>
              <a:path w="9144000" h="120650">
                <a:moveTo>
                  <a:pt x="0" y="120396"/>
                </a:moveTo>
                <a:lnTo>
                  <a:pt x="9144000" y="120396"/>
                </a:lnTo>
                <a:lnTo>
                  <a:pt x="9144000" y="0"/>
                </a:lnTo>
                <a:lnTo>
                  <a:pt x="0" y="0"/>
                </a:lnTo>
                <a:lnTo>
                  <a:pt x="0" y="120396"/>
                </a:lnTo>
                <a:close/>
              </a:path>
            </a:pathLst>
          </a:custGeom>
          <a:ln w="9525">
            <a:solidFill>
              <a:srgbClr val="000000"/>
            </a:solidFill>
          </a:ln>
        </p:spPr>
        <p:txBody>
          <a:bodyPr wrap="square" lIns="0" tIns="0" rIns="0" bIns="0" rtlCol="0"/>
          <a:lstStyle/>
          <a:p>
            <a:endParaRPr sz="1800"/>
          </a:p>
        </p:txBody>
      </p:sp>
      <p:pic>
        <p:nvPicPr>
          <p:cNvPr id="20" name="bg object 20"/>
          <p:cNvPicPr/>
          <p:nvPr/>
        </p:nvPicPr>
        <p:blipFill>
          <a:blip r:embed="rId8" cstate="print"/>
          <a:stretch>
            <a:fillRect/>
          </a:stretch>
        </p:blipFill>
        <p:spPr>
          <a:xfrm>
            <a:off x="171290" y="120527"/>
            <a:ext cx="2882393" cy="647161"/>
          </a:xfrm>
          <a:prstGeom prst="rect">
            <a:avLst/>
          </a:prstGeom>
        </p:spPr>
      </p:pic>
      <p:sp>
        <p:nvSpPr>
          <p:cNvPr id="2" name="Holder 2"/>
          <p:cNvSpPr>
            <a:spLocks noGrp="1"/>
          </p:cNvSpPr>
          <p:nvPr>
            <p:ph type="title"/>
          </p:nvPr>
        </p:nvSpPr>
        <p:spPr>
          <a:xfrm>
            <a:off x="1923626" y="-4114"/>
            <a:ext cx="10247207" cy="415498"/>
          </a:xfrm>
          <a:prstGeom prst="rect">
            <a:avLst/>
          </a:prstGeom>
        </p:spPr>
        <p:txBody>
          <a:bodyPr wrap="square" lIns="0" tIns="0" rIns="0" bIns="0">
            <a:spAutoFit/>
          </a:bodyPr>
          <a:lstStyle>
            <a:lvl1pPr>
              <a:defRPr sz="2700" b="1" i="0">
                <a:solidFill>
                  <a:schemeClr val="tx1"/>
                </a:solidFill>
                <a:latin typeface="Arial"/>
                <a:cs typeface="Arial"/>
              </a:defRPr>
            </a:lvl1pPr>
          </a:lstStyle>
          <a:p>
            <a:endParaRPr/>
          </a:p>
        </p:txBody>
      </p:sp>
      <p:sp>
        <p:nvSpPr>
          <p:cNvPr id="3" name="Holder 3"/>
          <p:cNvSpPr>
            <a:spLocks noGrp="1"/>
          </p:cNvSpPr>
          <p:nvPr>
            <p:ph type="body" idx="1"/>
          </p:nvPr>
        </p:nvSpPr>
        <p:spPr>
          <a:xfrm>
            <a:off x="609600" y="1577340"/>
            <a:ext cx="10972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49639" y="6603428"/>
            <a:ext cx="869525" cy="179536"/>
          </a:xfrm>
          <a:prstGeom prst="rect">
            <a:avLst/>
          </a:prstGeom>
        </p:spPr>
        <p:txBody>
          <a:bodyPr wrap="square" lIns="0" tIns="0" rIns="0" bIns="0">
            <a:spAutoFit/>
          </a:bodyPr>
          <a:lstStyle>
            <a:lvl1pPr>
              <a:defRPr sz="1200" b="0" i="0">
                <a:solidFill>
                  <a:schemeClr val="bg1"/>
                </a:solidFill>
                <a:latin typeface="Arial MT"/>
                <a:cs typeface="Arial MT"/>
              </a:defRPr>
            </a:lvl1pPr>
          </a:lstStyle>
          <a:p>
            <a:endParaRPr lang="en-IN"/>
          </a:p>
        </p:txBody>
      </p:sp>
      <p:sp>
        <p:nvSpPr>
          <p:cNvPr id="5" name="Holder 5"/>
          <p:cNvSpPr>
            <a:spLocks noGrp="1"/>
          </p:cNvSpPr>
          <p:nvPr>
            <p:ph type="dt" sz="half" idx="6"/>
          </p:nvPr>
        </p:nvSpPr>
        <p:spPr>
          <a:xfrm>
            <a:off x="4055194" y="6286407"/>
            <a:ext cx="4474633" cy="179536"/>
          </a:xfrm>
          <a:prstGeom prst="rect">
            <a:avLst/>
          </a:prstGeom>
        </p:spPr>
        <p:txBody>
          <a:bodyPr wrap="square" lIns="0" tIns="0" rIns="0" bIns="0">
            <a:spAutoFit/>
          </a:bodyPr>
          <a:lstStyle>
            <a:lvl1pPr>
              <a:defRPr sz="1200" b="0" i="0">
                <a:solidFill>
                  <a:srgbClr val="7E7E7E"/>
                </a:solidFill>
                <a:latin typeface="Arial MT"/>
                <a:cs typeface="Arial MT"/>
              </a:defRPr>
            </a:lvl1pPr>
          </a:lstStyle>
          <a:p>
            <a:fld id="{5CFB2E39-FAE3-497E-904F-71DADF1E9618}" type="datetimeFigureOut">
              <a:rPr lang="en-IN" smtClean="0"/>
              <a:t>03-06-2026</a:t>
            </a:fld>
            <a:endParaRPr lang="en-IN"/>
          </a:p>
        </p:txBody>
      </p:sp>
      <p:sp>
        <p:nvSpPr>
          <p:cNvPr id="6" name="Holder 6"/>
          <p:cNvSpPr>
            <a:spLocks noGrp="1"/>
          </p:cNvSpPr>
          <p:nvPr>
            <p:ph type="sldNum" sz="quarter" idx="7"/>
          </p:nvPr>
        </p:nvSpPr>
        <p:spPr>
          <a:xfrm>
            <a:off x="11527196" y="6605449"/>
            <a:ext cx="341205" cy="205184"/>
          </a:xfrm>
          <a:prstGeom prst="rect">
            <a:avLst/>
          </a:prstGeom>
        </p:spPr>
        <p:txBody>
          <a:bodyPr wrap="square" lIns="0" tIns="0" rIns="0" bIns="0">
            <a:spAutoFit/>
          </a:bodyPr>
          <a:lstStyle>
            <a:lvl1pPr>
              <a:defRPr sz="1350" b="0" i="0">
                <a:solidFill>
                  <a:schemeClr val="bg1"/>
                </a:solidFill>
                <a:latin typeface="Arial MT"/>
                <a:cs typeface="Arial MT"/>
              </a:defRPr>
            </a:lvl1pPr>
          </a:lstStyle>
          <a:p>
            <a:fld id="{1E37BA89-29FA-4E18-8E32-023880C5AA63}" type="slidenum">
              <a:rPr lang="en-IN" smtClean="0"/>
              <a:t>‹#›</a:t>
            </a:fld>
            <a:endParaRPr lang="en-IN"/>
          </a:p>
        </p:txBody>
      </p:sp>
    </p:spTree>
    <p:extLst>
      <p:ext uri="{BB962C8B-B14F-4D97-AF65-F5344CB8AC3E}">
        <p14:creationId xmlns:p14="http://schemas.microsoft.com/office/powerpoint/2010/main" val="5815974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link.springer.com/article/10.1007/s41060-025-00728-9"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A55BD54-EFFB-D366-8AE8-8FF5AFD3013D}"/>
              </a:ext>
            </a:extLst>
          </p:cNvPr>
          <p:cNvSpPr/>
          <p:nvPr/>
        </p:nvSpPr>
        <p:spPr>
          <a:xfrm>
            <a:off x="346213" y="1987174"/>
            <a:ext cx="11499573" cy="1024381"/>
          </a:xfrm>
          <a:prstGeom prst="rect">
            <a:avLst/>
          </a:prstGeom>
          <a:noFill/>
          <a:ln/>
        </p:spPr>
        <p:txBody>
          <a:bodyPr wrap="square" rtlCol="0" anchor="ctr"/>
          <a:lstStyle/>
          <a:p>
            <a:pPr marL="0" indent="0" algn="ctr">
              <a:buNone/>
            </a:pPr>
            <a:r>
              <a:rPr lang="en-US" sz="3600" b="1" dirty="0">
                <a:latin typeface="Arial Black" pitchFamily="34" charset="0"/>
                <a:ea typeface="Arial Black" pitchFamily="34" charset="-122"/>
                <a:cs typeface="Arial Black" pitchFamily="34" charset="-120"/>
              </a:rPr>
              <a:t>Phishing Website Detection</a:t>
            </a:r>
            <a:endParaRPr lang="en-US" sz="3600" dirty="0"/>
          </a:p>
        </p:txBody>
      </p:sp>
      <p:sp>
        <p:nvSpPr>
          <p:cNvPr id="3" name="Text 1">
            <a:extLst>
              <a:ext uri="{FF2B5EF4-FFF2-40B4-BE49-F238E27FC236}">
                <a16:creationId xmlns:a16="http://schemas.microsoft.com/office/drawing/2014/main" id="{2C96A661-14EC-52A3-641D-9958C7A2266D}"/>
              </a:ext>
            </a:extLst>
          </p:cNvPr>
          <p:cNvSpPr/>
          <p:nvPr/>
        </p:nvSpPr>
        <p:spPr>
          <a:xfrm>
            <a:off x="2052429" y="3200400"/>
            <a:ext cx="8229600" cy="457200"/>
          </a:xfrm>
          <a:prstGeom prst="rect">
            <a:avLst/>
          </a:prstGeom>
          <a:noFill/>
          <a:ln/>
        </p:spPr>
        <p:txBody>
          <a:bodyPr wrap="square" rtlCol="0" anchor="ctr"/>
          <a:lstStyle/>
          <a:p>
            <a:pPr marL="0" indent="0" algn="ctr">
              <a:buNone/>
            </a:pPr>
            <a:r>
              <a:rPr lang="en-US" sz="3600" dirty="0">
                <a:solidFill>
                  <a:schemeClr val="accent1">
                    <a:lumMod val="75000"/>
                  </a:schemeClr>
                </a:solidFill>
                <a:latin typeface="Calibri" pitchFamily="34" charset="0"/>
                <a:ea typeface="Calibri" pitchFamily="34" charset="-122"/>
                <a:cs typeface="Calibri" pitchFamily="34" charset="-120"/>
              </a:rPr>
              <a:t>Using URL-Based Features and Ensemble Learning Models</a:t>
            </a:r>
            <a:endParaRPr lang="en-US" sz="3600" dirty="0">
              <a:solidFill>
                <a:schemeClr val="accent1">
                  <a:lumMod val="75000"/>
                </a:schemeClr>
              </a:solidFill>
            </a:endParaRPr>
          </a:p>
        </p:txBody>
      </p:sp>
      <p:sp>
        <p:nvSpPr>
          <p:cNvPr id="4" name="Text 2">
            <a:extLst>
              <a:ext uri="{FF2B5EF4-FFF2-40B4-BE49-F238E27FC236}">
                <a16:creationId xmlns:a16="http://schemas.microsoft.com/office/drawing/2014/main" id="{E9B734AF-4415-ABA0-2661-EFCD2017E787}"/>
              </a:ext>
            </a:extLst>
          </p:cNvPr>
          <p:cNvSpPr/>
          <p:nvPr/>
        </p:nvSpPr>
        <p:spPr>
          <a:xfrm>
            <a:off x="1026635" y="4609314"/>
            <a:ext cx="10592207" cy="1741789"/>
          </a:xfrm>
          <a:prstGeom prst="rect">
            <a:avLst/>
          </a:prstGeom>
          <a:noFill/>
          <a:ln/>
        </p:spPr>
        <p:txBody>
          <a:bodyPr wrap="square" rtlCol="0" anchor="ctr"/>
          <a:lstStyle/>
          <a:p>
            <a:r>
              <a:rPr lang="en-US" sz="2000" dirty="0"/>
              <a:t>							</a:t>
            </a:r>
          </a:p>
        </p:txBody>
      </p:sp>
    </p:spTree>
    <p:extLst>
      <p:ext uri="{BB962C8B-B14F-4D97-AF65-F5344CB8AC3E}">
        <p14:creationId xmlns:p14="http://schemas.microsoft.com/office/powerpoint/2010/main" val="2288912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AF61-A000-787D-5DE4-94F1A53F800E}"/>
            </a:ext>
          </a:extLst>
        </p:cNvPr>
        <p:cNvGrpSpPr/>
        <p:nvPr/>
      </p:nvGrpSpPr>
      <p:grpSpPr>
        <a:xfrm>
          <a:off x="0" y="0"/>
          <a:ext cx="0" cy="0"/>
          <a:chOff x="0" y="0"/>
          <a:chExt cx="0" cy="0"/>
        </a:xfrm>
      </p:grpSpPr>
      <p:sp>
        <p:nvSpPr>
          <p:cNvPr id="2" name="Text 0"/>
          <p:cNvSpPr/>
          <p:nvPr/>
        </p:nvSpPr>
        <p:spPr>
          <a:xfrm>
            <a:off x="655982" y="1200647"/>
            <a:ext cx="8229600" cy="548640"/>
          </a:xfrm>
          <a:prstGeom prst="rect">
            <a:avLst/>
          </a:prstGeom>
          <a:noFill/>
          <a:ln/>
        </p:spPr>
        <p:txBody>
          <a:bodyPr wrap="square" lIns="0" tIns="0" rIns="0" bIns="0" rtlCol="0" anchor="ctr"/>
          <a:lstStyle/>
          <a:p>
            <a:pPr marL="0" indent="0">
              <a:buNone/>
            </a:pPr>
            <a:r>
              <a:rPr lang="en-US" sz="3600" b="1" dirty="0">
                <a:solidFill>
                  <a:schemeClr val="tx2">
                    <a:lumMod val="75000"/>
                  </a:schemeClr>
                </a:solidFill>
                <a:latin typeface="Arial Black" pitchFamily="34" charset="0"/>
                <a:ea typeface="Arial Black" pitchFamily="34" charset="-122"/>
                <a:cs typeface="Arial Black" pitchFamily="34" charset="-120"/>
              </a:rPr>
              <a:t>Base Paper Reference</a:t>
            </a:r>
            <a:endParaRPr lang="en-US" sz="3600" dirty="0">
              <a:solidFill>
                <a:schemeClr val="tx2">
                  <a:lumMod val="75000"/>
                </a:schemeClr>
              </a:solidFill>
            </a:endParaRPr>
          </a:p>
        </p:txBody>
      </p:sp>
      <p:sp>
        <p:nvSpPr>
          <p:cNvPr id="3" name="Shape 1"/>
          <p:cNvSpPr/>
          <p:nvPr/>
        </p:nvSpPr>
        <p:spPr>
          <a:xfrm>
            <a:off x="2435087" y="2484783"/>
            <a:ext cx="7136296" cy="3101008"/>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4" name="Text 2"/>
          <p:cNvSpPr/>
          <p:nvPr/>
        </p:nvSpPr>
        <p:spPr>
          <a:xfrm>
            <a:off x="2620617" y="2759102"/>
            <a:ext cx="6592956" cy="898497"/>
          </a:xfrm>
          <a:prstGeom prst="rect">
            <a:avLst/>
          </a:prstGeom>
          <a:noFill/>
          <a:ln/>
        </p:spPr>
        <p:txBody>
          <a:bodyPr wrap="square"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Phishing Website Detection Using URL-Based Features and Ensemble Learning Models</a:t>
            </a:r>
            <a:endParaRPr lang="en-US" sz="2000" dirty="0">
              <a:solidFill>
                <a:schemeClr val="accent1"/>
              </a:solidFill>
            </a:endParaRPr>
          </a:p>
        </p:txBody>
      </p:sp>
      <p:sp>
        <p:nvSpPr>
          <p:cNvPr id="5" name="Text 3"/>
          <p:cNvSpPr/>
          <p:nvPr/>
        </p:nvSpPr>
        <p:spPr>
          <a:xfrm>
            <a:off x="2763078" y="3778858"/>
            <a:ext cx="6450495" cy="1598212"/>
          </a:xfrm>
          <a:prstGeom prst="rect">
            <a:avLst/>
          </a:prstGeom>
          <a:noFill/>
          <a:ln/>
        </p:spPr>
        <p:txBody>
          <a:bodyPr wrap="square" rtlCol="0" anchor="ctr"/>
          <a:lstStyle/>
          <a:p>
            <a:r>
              <a:rPr lang="en-US" b="1" dirty="0">
                <a:solidFill>
                  <a:srgbClr val="1F2937"/>
                </a:solidFill>
                <a:latin typeface="Calibri" pitchFamily="34" charset="0"/>
                <a:ea typeface="Calibri" pitchFamily="34" charset="-122"/>
                <a:cs typeface="Calibri" pitchFamily="34" charset="-120"/>
              </a:rPr>
              <a:t>Reference:</a:t>
            </a:r>
          </a:p>
          <a:p>
            <a:r>
              <a:rPr lang="en-IN" dirty="0"/>
              <a:t>Barik, K., Misra, S., &amp; Mohan, R. (2025). </a:t>
            </a:r>
            <a:r>
              <a:rPr lang="en-IN" i="1" dirty="0"/>
              <a:t>Web-based phishing URL detection model using deep learning optimization techniques</a:t>
            </a:r>
            <a:r>
              <a:rPr lang="en-IN" dirty="0"/>
              <a:t>. </a:t>
            </a:r>
            <a:r>
              <a:rPr lang="en-IN" b="1" dirty="0"/>
              <a:t>International Journal of Data Science and Analytics, 20</a:t>
            </a:r>
            <a:r>
              <a:rPr lang="en-IN" dirty="0"/>
              <a:t>, 4449–4471. </a:t>
            </a:r>
            <a:r>
              <a:rPr lang="en-IN" dirty="0">
                <a:hlinkClick r:id="rId2"/>
              </a:rPr>
              <a:t>https://doi.org/10.1007/s41060-025-00728-9 </a:t>
            </a:r>
            <a:endParaRPr lang="en-US" dirty="0"/>
          </a:p>
        </p:txBody>
      </p:sp>
    </p:spTree>
    <p:extLst>
      <p:ext uri="{BB962C8B-B14F-4D97-AF65-F5344CB8AC3E}">
        <p14:creationId xmlns:p14="http://schemas.microsoft.com/office/powerpoint/2010/main" val="1447449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15125-C6CA-27D7-4168-173194BB8760}"/>
            </a:ext>
          </a:extLst>
        </p:cNvPr>
        <p:cNvGrpSpPr/>
        <p:nvPr/>
      </p:nvGrpSpPr>
      <p:grpSpPr>
        <a:xfrm>
          <a:off x="0" y="0"/>
          <a:ext cx="0" cy="0"/>
          <a:chOff x="0" y="0"/>
          <a:chExt cx="0" cy="0"/>
        </a:xfrm>
      </p:grpSpPr>
      <p:sp>
        <p:nvSpPr>
          <p:cNvPr id="3" name="Text 1"/>
          <p:cNvSpPr/>
          <p:nvPr/>
        </p:nvSpPr>
        <p:spPr>
          <a:xfrm>
            <a:off x="433346" y="964146"/>
            <a:ext cx="6400800" cy="658368"/>
          </a:xfrm>
          <a:prstGeom prst="rect">
            <a:avLst/>
          </a:prstGeom>
          <a:noFill/>
          <a:ln/>
        </p:spPr>
        <p:txBody>
          <a:bodyPr wrap="square" lIns="0" tIns="0" rIns="0" bIns="0" rtlCol="0" anchor="ctr"/>
          <a:lstStyle/>
          <a:p>
            <a:pPr marL="0" indent="0">
              <a:buNone/>
            </a:pPr>
            <a:r>
              <a:rPr lang="en-US" sz="3600" b="1" dirty="0">
                <a:solidFill>
                  <a:schemeClr val="tx2">
                    <a:lumMod val="75000"/>
                  </a:schemeClr>
                </a:solidFill>
                <a:latin typeface="Arial Black" panose="020B0A04020102020204" pitchFamily="34" charset="0"/>
                <a:ea typeface="Calibri" pitchFamily="34" charset="-122"/>
                <a:cs typeface="Calibri" pitchFamily="34" charset="-120"/>
              </a:rPr>
              <a:t>Abstract</a:t>
            </a:r>
            <a:endParaRPr lang="en-US" sz="3600" b="1" dirty="0">
              <a:solidFill>
                <a:schemeClr val="tx2">
                  <a:lumMod val="75000"/>
                </a:schemeClr>
              </a:solidFill>
              <a:latin typeface="Arial Black" panose="020B0A04020102020204" pitchFamily="34" charset="0"/>
            </a:endParaRPr>
          </a:p>
        </p:txBody>
      </p:sp>
      <p:sp>
        <p:nvSpPr>
          <p:cNvPr id="4" name="Shape 2"/>
          <p:cNvSpPr/>
          <p:nvPr/>
        </p:nvSpPr>
        <p:spPr>
          <a:xfrm>
            <a:off x="433346" y="1576795"/>
            <a:ext cx="2140889" cy="45719"/>
          </a:xfrm>
          <a:prstGeom prst="rect">
            <a:avLst/>
          </a:prstGeom>
          <a:solidFill>
            <a:schemeClr val="accent1">
              <a:lumMod val="75000"/>
            </a:schemeClr>
          </a:solidFill>
          <a:ln w="12700">
            <a:solidFill>
              <a:srgbClr val="007B77"/>
            </a:solidFill>
            <a:prstDash val="solid"/>
          </a:ln>
        </p:spPr>
        <p:txBody>
          <a:bodyPr/>
          <a:lstStyle/>
          <a:p>
            <a:endParaRPr lang="en-IN"/>
          </a:p>
        </p:txBody>
      </p:sp>
      <p:sp>
        <p:nvSpPr>
          <p:cNvPr id="5" name="Shape 3"/>
          <p:cNvSpPr/>
          <p:nvPr/>
        </p:nvSpPr>
        <p:spPr>
          <a:xfrm>
            <a:off x="159026" y="1739348"/>
            <a:ext cx="11627060" cy="4721087"/>
          </a:xfrm>
          <a:prstGeom prst="rect">
            <a:avLst/>
          </a:prstGeom>
          <a:solidFill>
            <a:srgbClr val="FFFFFF"/>
          </a:solidFill>
          <a:ln w="12700">
            <a:solidFill>
              <a:srgbClr val="C8DADA"/>
            </a:solidFill>
            <a:prstDash val="solid"/>
          </a:ln>
          <a:effectLst>
            <a:outerShdw blurRad="63500" dist="25400" dir="8100000" algn="bl" rotWithShape="0">
              <a:srgbClr val="000000">
                <a:alpha val="8000"/>
              </a:srgbClr>
            </a:outerShdw>
          </a:effectLst>
        </p:spPr>
        <p:txBody>
          <a:bodyPr/>
          <a:lstStyle/>
          <a:p>
            <a:endParaRPr lang="en-IN"/>
          </a:p>
        </p:txBody>
      </p:sp>
      <p:sp>
        <p:nvSpPr>
          <p:cNvPr id="6" name="Shape 4"/>
          <p:cNvSpPr/>
          <p:nvPr/>
        </p:nvSpPr>
        <p:spPr>
          <a:xfrm>
            <a:off x="341906" y="1892012"/>
            <a:ext cx="64008" cy="4449151"/>
          </a:xfrm>
          <a:prstGeom prst="rect">
            <a:avLst/>
          </a:prstGeom>
          <a:solidFill>
            <a:schemeClr val="accent1">
              <a:lumMod val="75000"/>
            </a:schemeClr>
          </a:solidFill>
          <a:ln w="12700">
            <a:solidFill>
              <a:srgbClr val="007B77"/>
            </a:solidFill>
            <a:prstDash val="solid"/>
          </a:ln>
        </p:spPr>
        <p:txBody>
          <a:bodyPr/>
          <a:lstStyle/>
          <a:p>
            <a:endParaRPr lang="en-IN"/>
          </a:p>
        </p:txBody>
      </p:sp>
      <p:sp>
        <p:nvSpPr>
          <p:cNvPr id="7" name="Text 5"/>
          <p:cNvSpPr/>
          <p:nvPr/>
        </p:nvSpPr>
        <p:spPr>
          <a:xfrm>
            <a:off x="570904" y="1892013"/>
            <a:ext cx="10793498" cy="4449152"/>
          </a:xfrm>
          <a:prstGeom prst="rect">
            <a:avLst/>
          </a:prstGeom>
          <a:noFill/>
          <a:ln/>
        </p:spPr>
        <p:txBody>
          <a:bodyPr wrap="square" lIns="101600" tIns="101600" rIns="101600" bIns="101600" rtlCol="0" anchor="t"/>
          <a:lstStyle/>
          <a:p>
            <a:pPr marL="342900" indent="-342900">
              <a:lnSpc>
                <a:spcPct val="125000"/>
              </a:lnSpc>
              <a:buFont typeface="Wingdings" panose="05000000000000000000" pitchFamily="2" charset="2"/>
              <a:buChar char="v"/>
            </a:pPr>
            <a:r>
              <a:rPr lang="en-US" sz="1600" dirty="0">
                <a:solidFill>
                  <a:srgbClr val="3A4A4A"/>
                </a:solidFill>
                <a:latin typeface="Calibri" pitchFamily="34" charset="0"/>
                <a:ea typeface="Calibri" pitchFamily="34" charset="-122"/>
                <a:cs typeface="Calibri" pitchFamily="34" charset="-120"/>
              </a:rPr>
              <a:t>Phishing websites are a significant issue in today's digital world. They deceive users into sharing sensitive personal and financial information through fake links and web pages. This project addresses the problem by developing a phishing website detection system that uses machine learning techniques focused on </a:t>
            </a:r>
            <a:r>
              <a:rPr lang="en-US" sz="1600" u="sng" dirty="0">
                <a:solidFill>
                  <a:srgbClr val="3A4A4A"/>
                </a:solidFill>
                <a:latin typeface="Calibri" pitchFamily="34" charset="0"/>
                <a:ea typeface="Calibri" pitchFamily="34" charset="-122"/>
                <a:cs typeface="Calibri" pitchFamily="34" charset="-120"/>
              </a:rPr>
              <a:t>analysing URL features</a:t>
            </a:r>
            <a:r>
              <a:rPr lang="en-US" sz="1600" dirty="0">
                <a:solidFill>
                  <a:srgbClr val="3A4A4A"/>
                </a:solidFill>
                <a:latin typeface="Calibri" pitchFamily="34" charset="0"/>
                <a:ea typeface="Calibri" pitchFamily="34" charset="-122"/>
                <a:cs typeface="Calibri" pitchFamily="34" charset="-120"/>
              </a:rPr>
              <a:t>.</a:t>
            </a:r>
            <a:endParaRPr lang="en-US" sz="1600" dirty="0"/>
          </a:p>
          <a:p>
            <a:pPr marL="0" indent="0">
              <a:lnSpc>
                <a:spcPct val="125000"/>
              </a:lnSpc>
              <a:buNone/>
            </a:pPr>
            <a:r>
              <a:rPr lang="en-US" sz="1600" dirty="0">
                <a:solidFill>
                  <a:srgbClr val="000000"/>
                </a:solidFill>
                <a:latin typeface="Calibri" pitchFamily="34" charset="0"/>
                <a:ea typeface="Calibri" pitchFamily="34" charset="-122"/>
                <a:cs typeface="Calibri" pitchFamily="34" charset="-120"/>
              </a:rPr>
              <a:t> </a:t>
            </a:r>
            <a:endParaRPr lang="en-US" sz="1600" dirty="0"/>
          </a:p>
          <a:p>
            <a:pPr marL="285750" indent="-285750">
              <a:lnSpc>
                <a:spcPct val="125000"/>
              </a:lnSpc>
              <a:buFont typeface="Wingdings" panose="05000000000000000000" pitchFamily="2" charset="2"/>
              <a:buChar char="v"/>
            </a:pPr>
            <a:r>
              <a:rPr lang="en-US" sz="1600" dirty="0">
                <a:solidFill>
                  <a:srgbClr val="3A4A4A"/>
                </a:solidFill>
                <a:latin typeface="Calibri" pitchFamily="34" charset="0"/>
                <a:ea typeface="Calibri" pitchFamily="34" charset="-122"/>
                <a:cs typeface="Calibri" pitchFamily="34" charset="-120"/>
              </a:rPr>
              <a:t>The system allows users to either input extracted feature values or provide a website URL through a web interface. It instantly gives a prediction on whether the site is legitimate or a phishing attempt. Several supervised classification models are tested and compared to evaluate their performance. These include K-Nearest Neighbors, Logistic Regression, Naive Bayes, Decision Tree, Random Forest, Support Vector Machine, and </a:t>
            </a:r>
            <a:r>
              <a:rPr lang="en-US" sz="1600" u="sng" dirty="0">
                <a:solidFill>
                  <a:srgbClr val="3A4A4A"/>
                </a:solidFill>
                <a:latin typeface="Calibri" pitchFamily="34" charset="0"/>
                <a:ea typeface="Calibri" pitchFamily="34" charset="-122"/>
                <a:cs typeface="Calibri" pitchFamily="34" charset="-120"/>
              </a:rPr>
              <a:t>XGBoost</a:t>
            </a:r>
            <a:r>
              <a:rPr lang="en-US" sz="1600" dirty="0">
                <a:solidFill>
                  <a:srgbClr val="3A4A4A"/>
                </a:solidFill>
                <a:latin typeface="Calibri" pitchFamily="34" charset="0"/>
                <a:ea typeface="Calibri" pitchFamily="34" charset="-122"/>
                <a:cs typeface="Calibri" pitchFamily="34" charset="-120"/>
              </a:rPr>
              <a:t>.</a:t>
            </a:r>
            <a:endParaRPr lang="en-US" sz="1600" dirty="0"/>
          </a:p>
          <a:p>
            <a:pPr marL="0" indent="0">
              <a:lnSpc>
                <a:spcPct val="125000"/>
              </a:lnSpc>
              <a:buNone/>
            </a:pPr>
            <a:r>
              <a:rPr lang="en-US" sz="1600" dirty="0">
                <a:solidFill>
                  <a:srgbClr val="000000"/>
                </a:solidFill>
                <a:latin typeface="Calibri" pitchFamily="34" charset="0"/>
                <a:ea typeface="Calibri" pitchFamily="34" charset="-122"/>
                <a:cs typeface="Calibri" pitchFamily="34" charset="-120"/>
              </a:rPr>
              <a:t> </a:t>
            </a:r>
            <a:endParaRPr lang="en-US" sz="1600" dirty="0"/>
          </a:p>
          <a:p>
            <a:pPr marL="285750" indent="-285750">
              <a:lnSpc>
                <a:spcPct val="125000"/>
              </a:lnSpc>
              <a:buFont typeface="Wingdings" panose="05000000000000000000" pitchFamily="2" charset="2"/>
              <a:buChar char="v"/>
            </a:pPr>
            <a:r>
              <a:rPr lang="en-US" sz="1600" dirty="0">
                <a:solidFill>
                  <a:srgbClr val="3A4A4A"/>
                </a:solidFill>
                <a:latin typeface="Calibri" pitchFamily="34" charset="0"/>
                <a:ea typeface="Calibri" pitchFamily="34" charset="-122"/>
                <a:cs typeface="Calibri" pitchFamily="34" charset="-120"/>
              </a:rPr>
              <a:t>The models are evaluated using various evaluation metrics, including accuracy, precision, recall, F1-score, ROC-AUC, processing time, memory usage, and robustness. The system allows different machine learning models, including individual classifiers and ensemble methods, to be compared in terms of their detection accuracy and computational efficiency. Overall, this system shows how machine learning can be effectively used for phishing detection and improving online security.</a:t>
            </a:r>
            <a:endParaRPr lang="en-US" sz="1600" dirty="0"/>
          </a:p>
        </p:txBody>
      </p:sp>
    </p:spTree>
    <p:extLst>
      <p:ext uri="{BB962C8B-B14F-4D97-AF65-F5344CB8AC3E}">
        <p14:creationId xmlns:p14="http://schemas.microsoft.com/office/powerpoint/2010/main" val="3550164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C6BEC-6FE8-F436-A097-51C9F256CB2C}"/>
            </a:ext>
          </a:extLst>
        </p:cNvPr>
        <p:cNvGrpSpPr/>
        <p:nvPr/>
      </p:nvGrpSpPr>
      <p:grpSpPr>
        <a:xfrm>
          <a:off x="0" y="0"/>
          <a:ext cx="0" cy="0"/>
          <a:chOff x="0" y="0"/>
          <a:chExt cx="0" cy="0"/>
        </a:xfrm>
      </p:grpSpPr>
      <p:sp>
        <p:nvSpPr>
          <p:cNvPr id="2" name="Text 0"/>
          <p:cNvSpPr/>
          <p:nvPr/>
        </p:nvSpPr>
        <p:spPr>
          <a:xfrm>
            <a:off x="308113" y="1127097"/>
            <a:ext cx="8229600" cy="548640"/>
          </a:xfrm>
          <a:prstGeom prst="rect">
            <a:avLst/>
          </a:prstGeom>
          <a:noFill/>
          <a:ln/>
        </p:spPr>
        <p:txBody>
          <a:bodyPr wrap="square" lIns="0" tIns="0" rIns="0" bIns="0" rtlCol="0" anchor="ctr"/>
          <a:lstStyle/>
          <a:p>
            <a:pPr marL="0" indent="0">
              <a:buNone/>
            </a:pPr>
            <a:r>
              <a:rPr lang="en-US" sz="3600" b="1" dirty="0">
                <a:solidFill>
                  <a:schemeClr val="tx2">
                    <a:lumMod val="75000"/>
                  </a:schemeClr>
                </a:solidFill>
                <a:latin typeface="Arial Black" pitchFamily="34" charset="0"/>
                <a:ea typeface="Arial Black" pitchFamily="34" charset="-122"/>
                <a:cs typeface="Arial Black" pitchFamily="34" charset="-120"/>
              </a:rPr>
              <a:t>Problem Statement</a:t>
            </a:r>
            <a:endParaRPr lang="en-US" sz="3600" dirty="0">
              <a:solidFill>
                <a:schemeClr val="tx2">
                  <a:lumMod val="75000"/>
                </a:schemeClr>
              </a:solidFill>
            </a:endParaRPr>
          </a:p>
        </p:txBody>
      </p:sp>
      <p:sp>
        <p:nvSpPr>
          <p:cNvPr id="3" name="Shape 1"/>
          <p:cNvSpPr/>
          <p:nvPr/>
        </p:nvSpPr>
        <p:spPr>
          <a:xfrm>
            <a:off x="905881" y="2132937"/>
            <a:ext cx="9907893" cy="15544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IN"/>
          </a:p>
        </p:txBody>
      </p:sp>
      <p:sp>
        <p:nvSpPr>
          <p:cNvPr id="4" name="Text 2"/>
          <p:cNvSpPr/>
          <p:nvPr/>
        </p:nvSpPr>
        <p:spPr>
          <a:xfrm>
            <a:off x="1049572" y="2315817"/>
            <a:ext cx="9316941" cy="1280160"/>
          </a:xfrm>
          <a:prstGeom prst="rect">
            <a:avLst/>
          </a:prstGeom>
          <a:noFill/>
          <a:ln/>
        </p:spPr>
        <p:txBody>
          <a:bodyPr wrap="square" rtlCol="0" anchor="ctr"/>
          <a:lstStyle/>
          <a:p>
            <a:r>
              <a:rPr lang="en-IN" sz="2000" dirty="0"/>
              <a:t>Phishing websites are a significant issue in today’s digital world. They deceive users into sharing sensitive personal and financial information through fake links and webpages. </a:t>
            </a:r>
            <a:r>
              <a:rPr lang="en-US" sz="2000" dirty="0">
                <a:solidFill>
                  <a:srgbClr val="1F2937"/>
                </a:solidFill>
                <a:latin typeface="Calibri" pitchFamily="34" charset="0"/>
                <a:ea typeface="Calibri" pitchFamily="34" charset="-122"/>
                <a:cs typeface="Calibri" pitchFamily="34" charset="-120"/>
              </a:rPr>
              <a:t>Traditional detection methods struggle to keep pace with evolving phishing techniques.</a:t>
            </a:r>
            <a:endParaRPr lang="en-US" sz="2000" dirty="0"/>
          </a:p>
        </p:txBody>
      </p:sp>
      <p:sp>
        <p:nvSpPr>
          <p:cNvPr id="5" name="Text 3"/>
          <p:cNvSpPr/>
          <p:nvPr/>
        </p:nvSpPr>
        <p:spPr>
          <a:xfrm>
            <a:off x="612251" y="4019384"/>
            <a:ext cx="7680960" cy="365760"/>
          </a:xfrm>
          <a:prstGeom prst="rect">
            <a:avLst/>
          </a:prstGeom>
          <a:noFill/>
          <a:ln/>
        </p:spPr>
        <p:txBody>
          <a:bodyPr wrap="square" rtlCol="0" anchor="ctr"/>
          <a:lstStyle/>
          <a:p>
            <a:pPr marL="0" indent="0">
              <a:buNone/>
            </a:pPr>
            <a:r>
              <a:rPr lang="en-US" sz="2000" b="1" dirty="0">
                <a:solidFill>
                  <a:srgbClr val="014F54"/>
                </a:solidFill>
                <a:latin typeface="Calibri" pitchFamily="34" charset="0"/>
                <a:ea typeface="Calibri" pitchFamily="34" charset="-122"/>
                <a:cs typeface="Calibri" pitchFamily="34" charset="-120"/>
              </a:rPr>
              <a:t>Key Challenges</a:t>
            </a:r>
            <a:endParaRPr lang="en-US" sz="2000" dirty="0"/>
          </a:p>
        </p:txBody>
      </p:sp>
      <p:sp>
        <p:nvSpPr>
          <p:cNvPr id="6" name="Shape 4"/>
          <p:cNvSpPr/>
          <p:nvPr/>
        </p:nvSpPr>
        <p:spPr>
          <a:xfrm>
            <a:off x="805070" y="4522304"/>
            <a:ext cx="3031434" cy="1808922"/>
          </a:xfrm>
          <a:prstGeom prst="rect">
            <a:avLst/>
          </a:prstGeom>
          <a:solidFill>
            <a:schemeClr val="accent1">
              <a:lumMod val="75000"/>
            </a:schemeClr>
          </a:solidFill>
          <a:ln/>
          <a:effectLst>
            <a:outerShdw blurRad="50800" dist="25400" dir="8100000" algn="bl" rotWithShape="0">
              <a:srgbClr val="000000">
                <a:alpha val="10000"/>
              </a:srgbClr>
            </a:outerShdw>
          </a:effectLst>
        </p:spPr>
        <p:txBody>
          <a:bodyPr/>
          <a:lstStyle/>
          <a:p>
            <a:endParaRPr lang="en-IN">
              <a:solidFill>
                <a:schemeClr val="accent1">
                  <a:lumMod val="50000"/>
                </a:schemeClr>
              </a:solidFill>
            </a:endParaRPr>
          </a:p>
        </p:txBody>
      </p:sp>
      <p:sp>
        <p:nvSpPr>
          <p:cNvPr id="7" name="Text 5"/>
          <p:cNvSpPr/>
          <p:nvPr/>
        </p:nvSpPr>
        <p:spPr>
          <a:xfrm>
            <a:off x="905880" y="4697232"/>
            <a:ext cx="2850447" cy="32004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Detection Accuracy</a:t>
            </a:r>
            <a:endParaRPr lang="en-US" dirty="0"/>
          </a:p>
        </p:txBody>
      </p:sp>
      <p:sp>
        <p:nvSpPr>
          <p:cNvPr id="8" name="Text 6"/>
          <p:cNvSpPr/>
          <p:nvPr/>
        </p:nvSpPr>
        <p:spPr>
          <a:xfrm>
            <a:off x="905880" y="5231958"/>
            <a:ext cx="2562877" cy="799106"/>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Need for highly accurate classification to minimize false positives and negatives</a:t>
            </a:r>
            <a:endParaRPr lang="en-US" sz="1600" dirty="0"/>
          </a:p>
        </p:txBody>
      </p:sp>
      <p:sp>
        <p:nvSpPr>
          <p:cNvPr id="9" name="Shape 7"/>
          <p:cNvSpPr/>
          <p:nvPr/>
        </p:nvSpPr>
        <p:spPr>
          <a:xfrm>
            <a:off x="4305630" y="4522304"/>
            <a:ext cx="3181849" cy="1808922"/>
          </a:xfrm>
          <a:prstGeom prst="rect">
            <a:avLst/>
          </a:prstGeom>
          <a:solidFill>
            <a:schemeClr val="accent1">
              <a:lumMod val="75000"/>
            </a:schemeClr>
          </a:solidFill>
          <a:ln/>
          <a:effectLst>
            <a:outerShdw blurRad="50800" dist="25400" dir="8100000" algn="bl" rotWithShape="0">
              <a:srgbClr val="000000">
                <a:alpha val="10000"/>
              </a:srgbClr>
            </a:outerShdw>
          </a:effectLst>
        </p:spPr>
        <p:txBody>
          <a:bodyPr/>
          <a:lstStyle/>
          <a:p>
            <a:endParaRPr lang="en-IN"/>
          </a:p>
        </p:txBody>
      </p:sp>
      <p:sp>
        <p:nvSpPr>
          <p:cNvPr id="10" name="Text 8"/>
          <p:cNvSpPr/>
          <p:nvPr/>
        </p:nvSpPr>
        <p:spPr>
          <a:xfrm>
            <a:off x="4305630" y="4677354"/>
            <a:ext cx="3101673" cy="320040"/>
          </a:xfrm>
          <a:prstGeom prst="rect">
            <a:avLst/>
          </a:prstGeom>
          <a:noFill/>
          <a:ln/>
        </p:spPr>
        <p:txBody>
          <a:bodyPr wrap="square" rtlCol="0" anchor="ctr"/>
          <a:lstStyle/>
          <a:p>
            <a:r>
              <a:rPr lang="en-IN" b="1" dirty="0">
                <a:solidFill>
                  <a:schemeClr val="bg1"/>
                </a:solidFill>
              </a:rPr>
              <a:t>Fast Prediction Response</a:t>
            </a:r>
            <a:endParaRPr lang="en-US" dirty="0">
              <a:solidFill>
                <a:schemeClr val="bg1"/>
              </a:solidFill>
            </a:endParaRPr>
          </a:p>
        </p:txBody>
      </p:sp>
      <p:sp>
        <p:nvSpPr>
          <p:cNvPr id="11" name="Text 9"/>
          <p:cNvSpPr/>
          <p:nvPr/>
        </p:nvSpPr>
        <p:spPr>
          <a:xfrm>
            <a:off x="4385806" y="5420801"/>
            <a:ext cx="3101673" cy="594360"/>
          </a:xfrm>
          <a:prstGeom prst="rect">
            <a:avLst/>
          </a:prstGeom>
          <a:noFill/>
          <a:ln/>
        </p:spPr>
        <p:txBody>
          <a:bodyPr wrap="square" rtlCol="0" anchor="ctr"/>
          <a:lstStyle/>
          <a:p>
            <a:r>
              <a:rPr lang="en-US" sz="1600" dirty="0">
                <a:solidFill>
                  <a:schemeClr val="bg1"/>
                </a:solidFill>
              </a:rPr>
              <a:t>System should deliver quick and efficient phishing predictions to assist users in making timely security decisions.</a:t>
            </a:r>
          </a:p>
        </p:txBody>
      </p:sp>
      <p:sp>
        <p:nvSpPr>
          <p:cNvPr id="12" name="Shape 10"/>
          <p:cNvSpPr/>
          <p:nvPr/>
        </p:nvSpPr>
        <p:spPr>
          <a:xfrm>
            <a:off x="8036781" y="4522304"/>
            <a:ext cx="2881022" cy="1808922"/>
          </a:xfrm>
          <a:prstGeom prst="rect">
            <a:avLst/>
          </a:prstGeom>
          <a:solidFill>
            <a:schemeClr val="accent1">
              <a:lumMod val="75000"/>
            </a:schemeClr>
          </a:solidFill>
          <a:ln/>
          <a:effectLst>
            <a:outerShdw blurRad="50800" dist="25400" dir="8100000" algn="bl" rotWithShape="0">
              <a:srgbClr val="000000">
                <a:alpha val="10000"/>
              </a:srgbClr>
            </a:outerShdw>
          </a:effectLst>
        </p:spPr>
        <p:txBody>
          <a:bodyPr/>
          <a:lstStyle/>
          <a:p>
            <a:endParaRPr lang="en-IN"/>
          </a:p>
        </p:txBody>
      </p:sp>
      <p:sp>
        <p:nvSpPr>
          <p:cNvPr id="13" name="Text 11"/>
          <p:cNvSpPr/>
          <p:nvPr/>
        </p:nvSpPr>
        <p:spPr>
          <a:xfrm>
            <a:off x="8173941" y="4659464"/>
            <a:ext cx="2194560" cy="32004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Evolving Threats</a:t>
            </a:r>
            <a:endParaRPr lang="en-US" dirty="0"/>
          </a:p>
        </p:txBody>
      </p:sp>
      <p:sp>
        <p:nvSpPr>
          <p:cNvPr id="14" name="Text 12"/>
          <p:cNvSpPr/>
          <p:nvPr/>
        </p:nvSpPr>
        <p:spPr>
          <a:xfrm>
            <a:off x="8173940" y="5025223"/>
            <a:ext cx="2639833" cy="1186733"/>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Phishing techniques constantly adapt to bypass security measures</a:t>
            </a:r>
            <a:endParaRPr lang="en-US" sz="1600" dirty="0"/>
          </a:p>
        </p:txBody>
      </p:sp>
    </p:spTree>
    <p:extLst>
      <p:ext uri="{BB962C8B-B14F-4D97-AF65-F5344CB8AC3E}">
        <p14:creationId xmlns:p14="http://schemas.microsoft.com/office/powerpoint/2010/main" val="286862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2FFA3-1936-E93E-5295-578B5512CBA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BD456DE-E331-7282-D95F-42749CAFE900}"/>
              </a:ext>
            </a:extLst>
          </p:cNvPr>
          <p:cNvSpPr/>
          <p:nvPr/>
        </p:nvSpPr>
        <p:spPr>
          <a:xfrm>
            <a:off x="317655" y="1019357"/>
            <a:ext cx="7772400" cy="566928"/>
          </a:xfrm>
          <a:prstGeom prst="rect">
            <a:avLst/>
          </a:prstGeom>
          <a:noFill/>
          <a:ln/>
        </p:spPr>
        <p:txBody>
          <a:bodyPr wrap="square" lIns="0" tIns="0" rIns="0" bIns="0" rtlCol="0" anchor="ctr"/>
          <a:lstStyle/>
          <a:p>
            <a:pPr marL="0" indent="0">
              <a:buNone/>
            </a:pPr>
            <a:r>
              <a:rPr lang="en-US" sz="3600" b="1" dirty="0">
                <a:solidFill>
                  <a:srgbClr val="1F3864"/>
                </a:solidFill>
                <a:latin typeface="Arial Black" panose="020B0A04020102020204" pitchFamily="34" charset="0"/>
                <a:ea typeface="Calibri" pitchFamily="34" charset="-122"/>
                <a:cs typeface="Calibri" pitchFamily="34" charset="-120"/>
              </a:rPr>
              <a:t>The Scale of the Problem</a:t>
            </a:r>
            <a:endParaRPr lang="en-US" sz="3600" dirty="0">
              <a:latin typeface="Arial Black" panose="020B0A04020102020204" pitchFamily="34" charset="0"/>
            </a:endParaRPr>
          </a:p>
        </p:txBody>
      </p:sp>
      <p:sp>
        <p:nvSpPr>
          <p:cNvPr id="4" name="Shape 2">
            <a:extLst>
              <a:ext uri="{FF2B5EF4-FFF2-40B4-BE49-F238E27FC236}">
                <a16:creationId xmlns:a16="http://schemas.microsoft.com/office/drawing/2014/main" id="{A21E903B-34C5-22A7-4235-5D759B851E6E}"/>
              </a:ext>
            </a:extLst>
          </p:cNvPr>
          <p:cNvSpPr/>
          <p:nvPr/>
        </p:nvSpPr>
        <p:spPr>
          <a:xfrm>
            <a:off x="317655" y="1632005"/>
            <a:ext cx="8449056" cy="0"/>
          </a:xfrm>
          <a:prstGeom prst="line">
            <a:avLst/>
          </a:prstGeom>
          <a:noFill/>
          <a:ln w="12700">
            <a:solidFill>
              <a:srgbClr val="BBCCE8"/>
            </a:solidFill>
            <a:prstDash val="solid"/>
          </a:ln>
        </p:spPr>
        <p:txBody>
          <a:bodyPr/>
          <a:lstStyle/>
          <a:p>
            <a:endParaRPr lang="en-IN"/>
          </a:p>
        </p:txBody>
      </p:sp>
      <p:sp>
        <p:nvSpPr>
          <p:cNvPr id="5" name="Text 3">
            <a:extLst>
              <a:ext uri="{FF2B5EF4-FFF2-40B4-BE49-F238E27FC236}">
                <a16:creationId xmlns:a16="http://schemas.microsoft.com/office/drawing/2014/main" id="{0C5AC6CC-6AB3-AABA-AE6B-ADC70634C22C}"/>
              </a:ext>
            </a:extLst>
          </p:cNvPr>
          <p:cNvSpPr/>
          <p:nvPr/>
        </p:nvSpPr>
        <p:spPr>
          <a:xfrm>
            <a:off x="317655" y="1696013"/>
            <a:ext cx="8449056" cy="347472"/>
          </a:xfrm>
          <a:prstGeom prst="rect">
            <a:avLst/>
          </a:prstGeom>
          <a:noFill/>
          <a:ln/>
        </p:spPr>
        <p:txBody>
          <a:bodyPr wrap="square" lIns="0" tIns="0" rIns="0" bIns="0" rtlCol="0" anchor="ctr"/>
          <a:lstStyle/>
          <a:p>
            <a:pPr marL="0" indent="0">
              <a:buNone/>
            </a:pPr>
            <a:r>
              <a:rPr lang="en-US" sz="1600" i="1" dirty="0">
                <a:solidFill>
                  <a:srgbClr val="556070"/>
                </a:solidFill>
                <a:latin typeface="Calibri" pitchFamily="34" charset="0"/>
                <a:ea typeface="Calibri" pitchFamily="34" charset="-122"/>
                <a:cs typeface="Calibri" pitchFamily="34" charset="-120"/>
              </a:rPr>
              <a:t>Phishing is not a technical nuisance — it is a global crisis affecting millions every day.</a:t>
            </a:r>
            <a:endParaRPr lang="en-US" sz="1600" dirty="0"/>
          </a:p>
        </p:txBody>
      </p:sp>
      <p:sp>
        <p:nvSpPr>
          <p:cNvPr id="6" name="Shape 4">
            <a:extLst>
              <a:ext uri="{FF2B5EF4-FFF2-40B4-BE49-F238E27FC236}">
                <a16:creationId xmlns:a16="http://schemas.microsoft.com/office/drawing/2014/main" id="{DEBB290B-4952-0D13-D8B5-80342E00E6C4}"/>
              </a:ext>
            </a:extLst>
          </p:cNvPr>
          <p:cNvSpPr/>
          <p:nvPr/>
        </p:nvSpPr>
        <p:spPr>
          <a:xfrm>
            <a:off x="362579" y="2259363"/>
            <a:ext cx="5133759" cy="1444752"/>
          </a:xfrm>
          <a:prstGeom prst="rect">
            <a:avLst/>
          </a:prstGeom>
          <a:solidFill>
            <a:srgbClr val="FFFFFF"/>
          </a:solidFill>
          <a:ln w="12700">
            <a:solidFill>
              <a:srgbClr val="BBCCE8"/>
            </a:solidFill>
            <a:prstDash val="solid"/>
          </a:ln>
          <a:effectLst>
            <a:outerShdw blurRad="63500" dist="25400" dir="8100000" algn="bl" rotWithShape="0">
              <a:srgbClr val="000000">
                <a:alpha val="7000"/>
              </a:srgbClr>
            </a:outerShdw>
          </a:effectLst>
        </p:spPr>
        <p:txBody>
          <a:bodyPr/>
          <a:lstStyle/>
          <a:p>
            <a:endParaRPr lang="en-IN"/>
          </a:p>
        </p:txBody>
      </p:sp>
      <p:sp>
        <p:nvSpPr>
          <p:cNvPr id="7" name="Shape 5">
            <a:extLst>
              <a:ext uri="{FF2B5EF4-FFF2-40B4-BE49-F238E27FC236}">
                <a16:creationId xmlns:a16="http://schemas.microsoft.com/office/drawing/2014/main" id="{FE2A9243-94A3-6638-57DF-961C562B81B6}"/>
              </a:ext>
            </a:extLst>
          </p:cNvPr>
          <p:cNvSpPr/>
          <p:nvPr/>
        </p:nvSpPr>
        <p:spPr>
          <a:xfrm>
            <a:off x="362580" y="2259363"/>
            <a:ext cx="64008" cy="1444752"/>
          </a:xfrm>
          <a:prstGeom prst="rect">
            <a:avLst/>
          </a:prstGeom>
          <a:solidFill>
            <a:srgbClr val="1F3864"/>
          </a:solidFill>
          <a:ln w="12700">
            <a:solidFill>
              <a:srgbClr val="1F3864"/>
            </a:solidFill>
            <a:prstDash val="solid"/>
          </a:ln>
        </p:spPr>
        <p:txBody>
          <a:bodyPr/>
          <a:lstStyle/>
          <a:p>
            <a:endParaRPr lang="en-IN"/>
          </a:p>
        </p:txBody>
      </p:sp>
      <p:sp>
        <p:nvSpPr>
          <p:cNvPr id="8" name="Text 6">
            <a:extLst>
              <a:ext uri="{FF2B5EF4-FFF2-40B4-BE49-F238E27FC236}">
                <a16:creationId xmlns:a16="http://schemas.microsoft.com/office/drawing/2014/main" id="{828B6721-CDD7-0AB5-F269-8ED60F49C4E9}"/>
              </a:ext>
            </a:extLst>
          </p:cNvPr>
          <p:cNvSpPr/>
          <p:nvPr/>
        </p:nvSpPr>
        <p:spPr>
          <a:xfrm>
            <a:off x="527172" y="2332515"/>
            <a:ext cx="1417320" cy="1298448"/>
          </a:xfrm>
          <a:prstGeom prst="rect">
            <a:avLst/>
          </a:prstGeom>
          <a:noFill/>
          <a:ln/>
        </p:spPr>
        <p:txBody>
          <a:bodyPr wrap="square" lIns="0" tIns="0" rIns="0" bIns="0" rtlCol="0" anchor="ctr"/>
          <a:lstStyle/>
          <a:p>
            <a:pPr marL="0" indent="0" algn="ctr">
              <a:buNone/>
            </a:pPr>
            <a:r>
              <a:rPr lang="en-US" sz="4000" b="1" dirty="0">
                <a:solidFill>
                  <a:srgbClr val="1F3864"/>
                </a:solidFill>
                <a:latin typeface="Calibri" pitchFamily="34" charset="0"/>
                <a:ea typeface="Calibri" pitchFamily="34" charset="-122"/>
                <a:cs typeface="Calibri" pitchFamily="34" charset="-120"/>
              </a:rPr>
              <a:t>3.4B</a:t>
            </a:r>
            <a:endParaRPr lang="en-US" sz="4000" dirty="0"/>
          </a:p>
        </p:txBody>
      </p:sp>
      <p:sp>
        <p:nvSpPr>
          <p:cNvPr id="9" name="Shape 7">
            <a:extLst>
              <a:ext uri="{FF2B5EF4-FFF2-40B4-BE49-F238E27FC236}">
                <a16:creationId xmlns:a16="http://schemas.microsoft.com/office/drawing/2014/main" id="{8A43E7C5-4621-A4DA-0FF4-640E75EB95B8}"/>
              </a:ext>
            </a:extLst>
          </p:cNvPr>
          <p:cNvSpPr/>
          <p:nvPr/>
        </p:nvSpPr>
        <p:spPr>
          <a:xfrm>
            <a:off x="2081652" y="2423955"/>
            <a:ext cx="0" cy="1115568"/>
          </a:xfrm>
          <a:prstGeom prst="line">
            <a:avLst/>
          </a:prstGeom>
          <a:noFill/>
          <a:ln w="12700">
            <a:solidFill>
              <a:srgbClr val="BBCCE8"/>
            </a:solidFill>
            <a:prstDash val="solid"/>
          </a:ln>
        </p:spPr>
        <p:txBody>
          <a:bodyPr/>
          <a:lstStyle/>
          <a:p>
            <a:endParaRPr lang="en-IN"/>
          </a:p>
        </p:txBody>
      </p:sp>
      <p:sp>
        <p:nvSpPr>
          <p:cNvPr id="10" name="Text 8">
            <a:extLst>
              <a:ext uri="{FF2B5EF4-FFF2-40B4-BE49-F238E27FC236}">
                <a16:creationId xmlns:a16="http://schemas.microsoft.com/office/drawing/2014/main" id="{CE62F20C-BE93-A662-EACA-73E0272FADDE}"/>
              </a:ext>
            </a:extLst>
          </p:cNvPr>
          <p:cNvSpPr/>
          <p:nvPr/>
        </p:nvSpPr>
        <p:spPr>
          <a:xfrm>
            <a:off x="2246243" y="2396523"/>
            <a:ext cx="3041373" cy="969264"/>
          </a:xfrm>
          <a:prstGeom prst="rect">
            <a:avLst/>
          </a:prstGeom>
          <a:noFill/>
          <a:ln/>
        </p:spPr>
        <p:txBody>
          <a:bodyPr wrap="square" lIns="0" tIns="0" rIns="0" bIns="0" rtlCol="0" anchor="ctr"/>
          <a:lstStyle/>
          <a:p>
            <a:pPr marL="0" indent="0">
              <a:lnSpc>
                <a:spcPct val="130000"/>
              </a:lnSpc>
              <a:buNone/>
            </a:pPr>
            <a:r>
              <a:rPr lang="en-US" dirty="0">
                <a:solidFill>
                  <a:srgbClr val="2C3A4A"/>
                </a:solidFill>
                <a:latin typeface="Calibri" pitchFamily="34" charset="0"/>
                <a:ea typeface="Calibri" pitchFamily="34" charset="-122"/>
                <a:cs typeface="Calibri" pitchFamily="34" charset="-120"/>
              </a:rPr>
              <a:t>Phishing emails sent every single day</a:t>
            </a:r>
            <a:endParaRPr lang="en-US" dirty="0"/>
          </a:p>
        </p:txBody>
      </p:sp>
      <p:sp>
        <p:nvSpPr>
          <p:cNvPr id="11" name="Text 9">
            <a:extLst>
              <a:ext uri="{FF2B5EF4-FFF2-40B4-BE49-F238E27FC236}">
                <a16:creationId xmlns:a16="http://schemas.microsoft.com/office/drawing/2014/main" id="{B2CC57BB-9996-3938-A774-8EAD645B0993}"/>
              </a:ext>
            </a:extLst>
          </p:cNvPr>
          <p:cNvSpPr/>
          <p:nvPr/>
        </p:nvSpPr>
        <p:spPr>
          <a:xfrm>
            <a:off x="2246243" y="3356643"/>
            <a:ext cx="3141949" cy="274320"/>
          </a:xfrm>
          <a:prstGeom prst="rect">
            <a:avLst/>
          </a:prstGeom>
          <a:noFill/>
          <a:ln/>
        </p:spPr>
        <p:txBody>
          <a:bodyPr wrap="square" lIns="0" tIns="0" rIns="0" bIns="0" rtlCol="0" anchor="ctr"/>
          <a:lstStyle/>
          <a:p>
            <a:pPr marL="0" indent="0">
              <a:buNone/>
            </a:pPr>
            <a:r>
              <a:rPr lang="en-US" sz="1200" i="1" dirty="0">
                <a:solidFill>
                  <a:srgbClr val="8899BB"/>
                </a:solidFill>
                <a:latin typeface="Calibri" pitchFamily="34" charset="0"/>
                <a:ea typeface="Calibri" pitchFamily="34" charset="-122"/>
                <a:cs typeface="Calibri" pitchFamily="34" charset="-120"/>
              </a:rPr>
              <a:t>Proofpoint State of the Phish, 2023</a:t>
            </a:r>
            <a:endParaRPr lang="en-US" sz="1200" dirty="0"/>
          </a:p>
        </p:txBody>
      </p:sp>
      <p:sp>
        <p:nvSpPr>
          <p:cNvPr id="12" name="Shape 10">
            <a:extLst>
              <a:ext uri="{FF2B5EF4-FFF2-40B4-BE49-F238E27FC236}">
                <a16:creationId xmlns:a16="http://schemas.microsoft.com/office/drawing/2014/main" id="{14D96B19-17E9-F43F-9FED-C6430A5A47E9}"/>
              </a:ext>
            </a:extLst>
          </p:cNvPr>
          <p:cNvSpPr/>
          <p:nvPr/>
        </p:nvSpPr>
        <p:spPr>
          <a:xfrm>
            <a:off x="6470771" y="2259363"/>
            <a:ext cx="4581541" cy="1444752"/>
          </a:xfrm>
          <a:prstGeom prst="rect">
            <a:avLst/>
          </a:prstGeom>
          <a:solidFill>
            <a:srgbClr val="FFFFFF"/>
          </a:solidFill>
          <a:ln w="12700">
            <a:solidFill>
              <a:srgbClr val="BBCCE8"/>
            </a:solidFill>
            <a:prstDash val="solid"/>
          </a:ln>
          <a:effectLst>
            <a:outerShdw blurRad="63500" dist="25400" dir="8100000" algn="bl" rotWithShape="0">
              <a:srgbClr val="000000">
                <a:alpha val="7000"/>
              </a:srgbClr>
            </a:outerShdw>
          </a:effectLst>
        </p:spPr>
        <p:txBody>
          <a:bodyPr/>
          <a:lstStyle/>
          <a:p>
            <a:endParaRPr lang="en-IN"/>
          </a:p>
        </p:txBody>
      </p:sp>
      <p:sp>
        <p:nvSpPr>
          <p:cNvPr id="13" name="Shape 11">
            <a:extLst>
              <a:ext uri="{FF2B5EF4-FFF2-40B4-BE49-F238E27FC236}">
                <a16:creationId xmlns:a16="http://schemas.microsoft.com/office/drawing/2014/main" id="{0643D2D0-00D3-ABCB-A77D-ACB5EF564BF4}"/>
              </a:ext>
            </a:extLst>
          </p:cNvPr>
          <p:cNvSpPr/>
          <p:nvPr/>
        </p:nvSpPr>
        <p:spPr>
          <a:xfrm>
            <a:off x="6470772" y="2259363"/>
            <a:ext cx="64008" cy="1444752"/>
          </a:xfrm>
          <a:prstGeom prst="rect">
            <a:avLst/>
          </a:prstGeom>
          <a:solidFill>
            <a:srgbClr val="1F3864"/>
          </a:solidFill>
          <a:ln w="12700">
            <a:solidFill>
              <a:srgbClr val="1F3864"/>
            </a:solidFill>
            <a:prstDash val="solid"/>
          </a:ln>
        </p:spPr>
        <p:txBody>
          <a:bodyPr/>
          <a:lstStyle/>
          <a:p>
            <a:endParaRPr lang="en-IN"/>
          </a:p>
        </p:txBody>
      </p:sp>
      <p:sp>
        <p:nvSpPr>
          <p:cNvPr id="14" name="Text 12">
            <a:extLst>
              <a:ext uri="{FF2B5EF4-FFF2-40B4-BE49-F238E27FC236}">
                <a16:creationId xmlns:a16="http://schemas.microsoft.com/office/drawing/2014/main" id="{E07B6FB5-8B1D-E907-3BAC-B5379A23BC66}"/>
              </a:ext>
            </a:extLst>
          </p:cNvPr>
          <p:cNvSpPr/>
          <p:nvPr/>
        </p:nvSpPr>
        <p:spPr>
          <a:xfrm>
            <a:off x="6635364" y="2332515"/>
            <a:ext cx="1417320" cy="1298448"/>
          </a:xfrm>
          <a:prstGeom prst="rect">
            <a:avLst/>
          </a:prstGeom>
          <a:noFill/>
          <a:ln/>
        </p:spPr>
        <p:txBody>
          <a:bodyPr wrap="square" lIns="0" tIns="0" rIns="0" bIns="0" rtlCol="0" anchor="ctr"/>
          <a:lstStyle/>
          <a:p>
            <a:pPr marL="0" indent="0" algn="ctr">
              <a:buNone/>
            </a:pPr>
            <a:r>
              <a:rPr lang="en-US" sz="4000" b="1" dirty="0">
                <a:solidFill>
                  <a:srgbClr val="1F3864"/>
                </a:solidFill>
                <a:latin typeface="Calibri" pitchFamily="34" charset="0"/>
                <a:ea typeface="Calibri" pitchFamily="34" charset="-122"/>
                <a:cs typeface="Calibri" pitchFamily="34" charset="-120"/>
              </a:rPr>
              <a:t>36%</a:t>
            </a:r>
            <a:endParaRPr lang="en-US" sz="4000" dirty="0"/>
          </a:p>
        </p:txBody>
      </p:sp>
      <p:sp>
        <p:nvSpPr>
          <p:cNvPr id="15" name="Shape 13">
            <a:extLst>
              <a:ext uri="{FF2B5EF4-FFF2-40B4-BE49-F238E27FC236}">
                <a16:creationId xmlns:a16="http://schemas.microsoft.com/office/drawing/2014/main" id="{59202FE3-8A4E-C052-BE01-9B68F689217F}"/>
              </a:ext>
            </a:extLst>
          </p:cNvPr>
          <p:cNvSpPr/>
          <p:nvPr/>
        </p:nvSpPr>
        <p:spPr>
          <a:xfrm>
            <a:off x="8189844" y="2423955"/>
            <a:ext cx="0" cy="1115568"/>
          </a:xfrm>
          <a:prstGeom prst="line">
            <a:avLst/>
          </a:prstGeom>
          <a:noFill/>
          <a:ln w="12700">
            <a:solidFill>
              <a:srgbClr val="BBCCE8"/>
            </a:solidFill>
            <a:prstDash val="solid"/>
          </a:ln>
        </p:spPr>
        <p:txBody>
          <a:bodyPr/>
          <a:lstStyle/>
          <a:p>
            <a:endParaRPr lang="en-IN"/>
          </a:p>
        </p:txBody>
      </p:sp>
      <p:sp>
        <p:nvSpPr>
          <p:cNvPr id="16" name="Text 14">
            <a:extLst>
              <a:ext uri="{FF2B5EF4-FFF2-40B4-BE49-F238E27FC236}">
                <a16:creationId xmlns:a16="http://schemas.microsoft.com/office/drawing/2014/main" id="{51BC6283-B7F4-33D2-66D7-A03A300DCD32}"/>
              </a:ext>
            </a:extLst>
          </p:cNvPr>
          <p:cNvSpPr/>
          <p:nvPr/>
        </p:nvSpPr>
        <p:spPr>
          <a:xfrm>
            <a:off x="8354435" y="2396523"/>
            <a:ext cx="2608423" cy="969264"/>
          </a:xfrm>
          <a:prstGeom prst="rect">
            <a:avLst/>
          </a:prstGeom>
          <a:noFill/>
          <a:ln/>
        </p:spPr>
        <p:txBody>
          <a:bodyPr wrap="square" lIns="0" tIns="0" rIns="0" bIns="0" rtlCol="0" anchor="ctr"/>
          <a:lstStyle/>
          <a:p>
            <a:pPr marL="0" indent="0">
              <a:lnSpc>
                <a:spcPct val="130000"/>
              </a:lnSpc>
              <a:buNone/>
            </a:pPr>
            <a:r>
              <a:rPr lang="en-US" dirty="0">
                <a:solidFill>
                  <a:srgbClr val="2C3A4A"/>
                </a:solidFill>
                <a:latin typeface="Calibri" pitchFamily="34" charset="0"/>
                <a:ea typeface="Calibri" pitchFamily="34" charset="-122"/>
                <a:cs typeface="Calibri" pitchFamily="34" charset="-120"/>
              </a:rPr>
              <a:t>Of all data breaches involve phishing</a:t>
            </a:r>
            <a:endParaRPr lang="en-US" dirty="0"/>
          </a:p>
        </p:txBody>
      </p:sp>
      <p:sp>
        <p:nvSpPr>
          <p:cNvPr id="17" name="Text 15">
            <a:extLst>
              <a:ext uri="{FF2B5EF4-FFF2-40B4-BE49-F238E27FC236}">
                <a16:creationId xmlns:a16="http://schemas.microsoft.com/office/drawing/2014/main" id="{0E951231-DB17-4984-F580-E5DAB0005948}"/>
              </a:ext>
            </a:extLst>
          </p:cNvPr>
          <p:cNvSpPr/>
          <p:nvPr/>
        </p:nvSpPr>
        <p:spPr>
          <a:xfrm>
            <a:off x="8354436" y="3365787"/>
            <a:ext cx="2608422" cy="283464"/>
          </a:xfrm>
          <a:prstGeom prst="rect">
            <a:avLst/>
          </a:prstGeom>
          <a:noFill/>
          <a:ln/>
        </p:spPr>
        <p:txBody>
          <a:bodyPr wrap="square" lIns="0" tIns="0" rIns="0" bIns="0" rtlCol="0" anchor="ctr"/>
          <a:lstStyle/>
          <a:p>
            <a:pPr marL="0" indent="0">
              <a:buNone/>
            </a:pPr>
            <a:r>
              <a:rPr lang="en-US" sz="1200" i="1" dirty="0">
                <a:solidFill>
                  <a:srgbClr val="8899BB"/>
                </a:solidFill>
                <a:latin typeface="Calibri" pitchFamily="34" charset="0"/>
                <a:ea typeface="Calibri" pitchFamily="34" charset="-122"/>
                <a:cs typeface="Calibri" pitchFamily="34" charset="-120"/>
              </a:rPr>
              <a:t>Verizon Data Breach Investigations Report, 2023</a:t>
            </a:r>
            <a:endParaRPr lang="en-US" sz="1200" dirty="0"/>
          </a:p>
        </p:txBody>
      </p:sp>
      <p:sp>
        <p:nvSpPr>
          <p:cNvPr id="18" name="Shape 16">
            <a:extLst>
              <a:ext uri="{FF2B5EF4-FFF2-40B4-BE49-F238E27FC236}">
                <a16:creationId xmlns:a16="http://schemas.microsoft.com/office/drawing/2014/main" id="{0753788C-FA13-FF1D-4F9F-3F84BDA1751D}"/>
              </a:ext>
            </a:extLst>
          </p:cNvPr>
          <p:cNvSpPr/>
          <p:nvPr/>
        </p:nvSpPr>
        <p:spPr>
          <a:xfrm>
            <a:off x="362580" y="3850419"/>
            <a:ext cx="5133758" cy="1444752"/>
          </a:xfrm>
          <a:prstGeom prst="rect">
            <a:avLst/>
          </a:prstGeom>
          <a:solidFill>
            <a:srgbClr val="FFFFFF"/>
          </a:solidFill>
          <a:ln w="12700">
            <a:solidFill>
              <a:srgbClr val="BBCCE8"/>
            </a:solidFill>
            <a:prstDash val="solid"/>
          </a:ln>
          <a:effectLst>
            <a:outerShdw blurRad="63500" dist="25400" dir="8100000" algn="bl" rotWithShape="0">
              <a:srgbClr val="000000">
                <a:alpha val="7000"/>
              </a:srgbClr>
            </a:outerShdw>
          </a:effectLst>
        </p:spPr>
        <p:txBody>
          <a:bodyPr/>
          <a:lstStyle/>
          <a:p>
            <a:endParaRPr lang="en-IN"/>
          </a:p>
        </p:txBody>
      </p:sp>
      <p:sp>
        <p:nvSpPr>
          <p:cNvPr id="19" name="Shape 17">
            <a:extLst>
              <a:ext uri="{FF2B5EF4-FFF2-40B4-BE49-F238E27FC236}">
                <a16:creationId xmlns:a16="http://schemas.microsoft.com/office/drawing/2014/main" id="{5BB411CC-1B2B-03C2-7860-05219004BFD1}"/>
              </a:ext>
            </a:extLst>
          </p:cNvPr>
          <p:cNvSpPr/>
          <p:nvPr/>
        </p:nvSpPr>
        <p:spPr>
          <a:xfrm>
            <a:off x="362580" y="3850419"/>
            <a:ext cx="64008" cy="1444752"/>
          </a:xfrm>
          <a:prstGeom prst="rect">
            <a:avLst/>
          </a:prstGeom>
          <a:solidFill>
            <a:srgbClr val="1F3864"/>
          </a:solidFill>
          <a:ln w="12700">
            <a:solidFill>
              <a:srgbClr val="1F3864"/>
            </a:solidFill>
            <a:prstDash val="solid"/>
          </a:ln>
        </p:spPr>
        <p:txBody>
          <a:bodyPr/>
          <a:lstStyle/>
          <a:p>
            <a:endParaRPr lang="en-IN"/>
          </a:p>
        </p:txBody>
      </p:sp>
      <p:sp>
        <p:nvSpPr>
          <p:cNvPr id="20" name="Text 18">
            <a:extLst>
              <a:ext uri="{FF2B5EF4-FFF2-40B4-BE49-F238E27FC236}">
                <a16:creationId xmlns:a16="http://schemas.microsoft.com/office/drawing/2014/main" id="{B022FC93-3E4B-AA82-B7C4-18C90EF74D30}"/>
              </a:ext>
            </a:extLst>
          </p:cNvPr>
          <p:cNvSpPr/>
          <p:nvPr/>
        </p:nvSpPr>
        <p:spPr>
          <a:xfrm>
            <a:off x="527172" y="3923571"/>
            <a:ext cx="1417320" cy="1298448"/>
          </a:xfrm>
          <a:prstGeom prst="rect">
            <a:avLst/>
          </a:prstGeom>
          <a:noFill/>
          <a:ln/>
        </p:spPr>
        <p:txBody>
          <a:bodyPr wrap="square" lIns="0" tIns="0" rIns="0" bIns="0" rtlCol="0" anchor="ctr"/>
          <a:lstStyle/>
          <a:p>
            <a:pPr marL="0" indent="0" algn="ctr">
              <a:buNone/>
            </a:pPr>
            <a:r>
              <a:rPr lang="en-US" sz="4000" b="1" dirty="0">
                <a:solidFill>
                  <a:srgbClr val="1F3864"/>
                </a:solidFill>
                <a:latin typeface="Calibri" pitchFamily="34" charset="0"/>
                <a:ea typeface="Calibri" pitchFamily="34" charset="-122"/>
                <a:cs typeface="Calibri" pitchFamily="34" charset="-120"/>
              </a:rPr>
              <a:t>#1</a:t>
            </a:r>
            <a:endParaRPr lang="en-US" sz="4000" dirty="0"/>
          </a:p>
        </p:txBody>
      </p:sp>
      <p:sp>
        <p:nvSpPr>
          <p:cNvPr id="21" name="Shape 19">
            <a:extLst>
              <a:ext uri="{FF2B5EF4-FFF2-40B4-BE49-F238E27FC236}">
                <a16:creationId xmlns:a16="http://schemas.microsoft.com/office/drawing/2014/main" id="{0826CBC7-1DA4-7B5E-1230-0F09A65881CC}"/>
              </a:ext>
            </a:extLst>
          </p:cNvPr>
          <p:cNvSpPr/>
          <p:nvPr/>
        </p:nvSpPr>
        <p:spPr>
          <a:xfrm>
            <a:off x="2081652" y="4015011"/>
            <a:ext cx="0" cy="1115568"/>
          </a:xfrm>
          <a:prstGeom prst="line">
            <a:avLst/>
          </a:prstGeom>
          <a:noFill/>
          <a:ln w="12700">
            <a:solidFill>
              <a:srgbClr val="BBCCE8"/>
            </a:solidFill>
            <a:prstDash val="solid"/>
          </a:ln>
        </p:spPr>
        <p:txBody>
          <a:bodyPr/>
          <a:lstStyle/>
          <a:p>
            <a:endParaRPr lang="en-IN"/>
          </a:p>
        </p:txBody>
      </p:sp>
      <p:sp>
        <p:nvSpPr>
          <p:cNvPr id="22" name="Text 20">
            <a:extLst>
              <a:ext uri="{FF2B5EF4-FFF2-40B4-BE49-F238E27FC236}">
                <a16:creationId xmlns:a16="http://schemas.microsoft.com/office/drawing/2014/main" id="{2957E2E8-C31A-7CFD-031B-D93320A1238C}"/>
              </a:ext>
            </a:extLst>
          </p:cNvPr>
          <p:cNvSpPr/>
          <p:nvPr/>
        </p:nvSpPr>
        <p:spPr>
          <a:xfrm>
            <a:off x="2246243" y="3987579"/>
            <a:ext cx="3040975" cy="969264"/>
          </a:xfrm>
          <a:prstGeom prst="rect">
            <a:avLst/>
          </a:prstGeom>
          <a:noFill/>
          <a:ln/>
        </p:spPr>
        <p:txBody>
          <a:bodyPr wrap="square" lIns="0" tIns="0" rIns="0" bIns="0" rtlCol="0" anchor="ctr"/>
          <a:lstStyle/>
          <a:p>
            <a:pPr marL="0" indent="0">
              <a:lnSpc>
                <a:spcPct val="130000"/>
              </a:lnSpc>
              <a:buNone/>
            </a:pPr>
            <a:r>
              <a:rPr lang="en-US" dirty="0">
                <a:solidFill>
                  <a:srgbClr val="2C3A4A"/>
                </a:solidFill>
                <a:latin typeface="Calibri" pitchFamily="34" charset="0"/>
                <a:ea typeface="Calibri" pitchFamily="34" charset="-122"/>
                <a:cs typeface="Calibri" pitchFamily="34" charset="-120"/>
              </a:rPr>
              <a:t>Most reported cybercrime type globally</a:t>
            </a:r>
            <a:endParaRPr lang="en-US" dirty="0"/>
          </a:p>
        </p:txBody>
      </p:sp>
      <p:sp>
        <p:nvSpPr>
          <p:cNvPr id="23" name="Text 21">
            <a:extLst>
              <a:ext uri="{FF2B5EF4-FFF2-40B4-BE49-F238E27FC236}">
                <a16:creationId xmlns:a16="http://schemas.microsoft.com/office/drawing/2014/main" id="{A3A095FC-68E1-D09F-91D6-EC7220875372}"/>
              </a:ext>
            </a:extLst>
          </p:cNvPr>
          <p:cNvSpPr/>
          <p:nvPr/>
        </p:nvSpPr>
        <p:spPr>
          <a:xfrm>
            <a:off x="2246243" y="4956843"/>
            <a:ext cx="3040969" cy="283464"/>
          </a:xfrm>
          <a:prstGeom prst="rect">
            <a:avLst/>
          </a:prstGeom>
          <a:noFill/>
          <a:ln/>
        </p:spPr>
        <p:txBody>
          <a:bodyPr wrap="square" lIns="0" tIns="0" rIns="0" bIns="0" rtlCol="0" anchor="ctr"/>
          <a:lstStyle/>
          <a:p>
            <a:pPr marL="0" indent="0">
              <a:buNone/>
            </a:pPr>
            <a:r>
              <a:rPr lang="en-US" sz="1200" i="1" dirty="0">
                <a:solidFill>
                  <a:srgbClr val="8899BB"/>
                </a:solidFill>
                <a:latin typeface="Calibri" pitchFamily="34" charset="0"/>
                <a:ea typeface="Calibri" pitchFamily="34" charset="-122"/>
                <a:cs typeface="Calibri" pitchFamily="34" charset="-120"/>
              </a:rPr>
              <a:t>FBI Internet Crime Report (IC3), 2023</a:t>
            </a:r>
            <a:endParaRPr lang="en-US" sz="1200" dirty="0"/>
          </a:p>
        </p:txBody>
      </p:sp>
      <p:sp>
        <p:nvSpPr>
          <p:cNvPr id="24" name="Shape 22">
            <a:extLst>
              <a:ext uri="{FF2B5EF4-FFF2-40B4-BE49-F238E27FC236}">
                <a16:creationId xmlns:a16="http://schemas.microsoft.com/office/drawing/2014/main" id="{8E57783A-A57D-E8DE-3915-58F7896224F1}"/>
              </a:ext>
            </a:extLst>
          </p:cNvPr>
          <p:cNvSpPr/>
          <p:nvPr/>
        </p:nvSpPr>
        <p:spPr>
          <a:xfrm>
            <a:off x="6470772" y="3850419"/>
            <a:ext cx="4581540" cy="1444752"/>
          </a:xfrm>
          <a:prstGeom prst="rect">
            <a:avLst/>
          </a:prstGeom>
          <a:solidFill>
            <a:srgbClr val="FFFFFF"/>
          </a:solidFill>
          <a:ln w="12700">
            <a:solidFill>
              <a:srgbClr val="BBCCE8"/>
            </a:solidFill>
            <a:prstDash val="solid"/>
          </a:ln>
          <a:effectLst>
            <a:outerShdw blurRad="63500" dist="25400" dir="8100000" algn="bl" rotWithShape="0">
              <a:srgbClr val="000000">
                <a:alpha val="7000"/>
              </a:srgbClr>
            </a:outerShdw>
          </a:effectLst>
        </p:spPr>
        <p:txBody>
          <a:bodyPr/>
          <a:lstStyle/>
          <a:p>
            <a:endParaRPr lang="en-IN"/>
          </a:p>
        </p:txBody>
      </p:sp>
      <p:sp>
        <p:nvSpPr>
          <p:cNvPr id="25" name="Shape 23">
            <a:extLst>
              <a:ext uri="{FF2B5EF4-FFF2-40B4-BE49-F238E27FC236}">
                <a16:creationId xmlns:a16="http://schemas.microsoft.com/office/drawing/2014/main" id="{28614C64-CF29-0735-3824-1D5BE2406308}"/>
              </a:ext>
            </a:extLst>
          </p:cNvPr>
          <p:cNvSpPr/>
          <p:nvPr/>
        </p:nvSpPr>
        <p:spPr>
          <a:xfrm>
            <a:off x="6470772" y="3850419"/>
            <a:ext cx="64008" cy="1444752"/>
          </a:xfrm>
          <a:prstGeom prst="rect">
            <a:avLst/>
          </a:prstGeom>
          <a:solidFill>
            <a:srgbClr val="1F3864"/>
          </a:solidFill>
          <a:ln w="12700">
            <a:solidFill>
              <a:srgbClr val="1F3864"/>
            </a:solidFill>
            <a:prstDash val="solid"/>
          </a:ln>
        </p:spPr>
        <p:txBody>
          <a:bodyPr/>
          <a:lstStyle/>
          <a:p>
            <a:endParaRPr lang="en-IN"/>
          </a:p>
        </p:txBody>
      </p:sp>
      <p:sp>
        <p:nvSpPr>
          <p:cNvPr id="26" name="Text 24">
            <a:extLst>
              <a:ext uri="{FF2B5EF4-FFF2-40B4-BE49-F238E27FC236}">
                <a16:creationId xmlns:a16="http://schemas.microsoft.com/office/drawing/2014/main" id="{6BE58B3D-F105-C4F8-9B45-A5711C533236}"/>
              </a:ext>
            </a:extLst>
          </p:cNvPr>
          <p:cNvSpPr/>
          <p:nvPr/>
        </p:nvSpPr>
        <p:spPr>
          <a:xfrm>
            <a:off x="6635364" y="3923571"/>
            <a:ext cx="1417320" cy="1298448"/>
          </a:xfrm>
          <a:prstGeom prst="rect">
            <a:avLst/>
          </a:prstGeom>
          <a:noFill/>
          <a:ln/>
        </p:spPr>
        <p:txBody>
          <a:bodyPr wrap="square" lIns="0" tIns="0" rIns="0" bIns="0" rtlCol="0" anchor="ctr"/>
          <a:lstStyle/>
          <a:p>
            <a:pPr marL="0" indent="0" algn="ctr">
              <a:buNone/>
            </a:pPr>
            <a:r>
              <a:rPr lang="en-US" sz="4000" b="1" dirty="0">
                <a:solidFill>
                  <a:srgbClr val="1F3864"/>
                </a:solidFill>
                <a:latin typeface="Calibri" pitchFamily="34" charset="0"/>
                <a:ea typeface="Calibri" pitchFamily="34" charset="-122"/>
                <a:cs typeface="Calibri" pitchFamily="34" charset="-120"/>
              </a:rPr>
              <a:t>1.35M</a:t>
            </a:r>
            <a:endParaRPr lang="en-US" sz="4000" dirty="0"/>
          </a:p>
        </p:txBody>
      </p:sp>
      <p:sp>
        <p:nvSpPr>
          <p:cNvPr id="27" name="Shape 25">
            <a:extLst>
              <a:ext uri="{FF2B5EF4-FFF2-40B4-BE49-F238E27FC236}">
                <a16:creationId xmlns:a16="http://schemas.microsoft.com/office/drawing/2014/main" id="{3A916B95-51E8-DB9B-F3AC-70E3D2B4DB88}"/>
              </a:ext>
            </a:extLst>
          </p:cNvPr>
          <p:cNvSpPr/>
          <p:nvPr/>
        </p:nvSpPr>
        <p:spPr>
          <a:xfrm>
            <a:off x="8189844" y="4015011"/>
            <a:ext cx="0" cy="1115568"/>
          </a:xfrm>
          <a:prstGeom prst="line">
            <a:avLst/>
          </a:prstGeom>
          <a:noFill/>
          <a:ln w="12700">
            <a:solidFill>
              <a:srgbClr val="BBCCE8"/>
            </a:solidFill>
            <a:prstDash val="solid"/>
          </a:ln>
        </p:spPr>
        <p:txBody>
          <a:bodyPr/>
          <a:lstStyle/>
          <a:p>
            <a:endParaRPr lang="en-IN"/>
          </a:p>
        </p:txBody>
      </p:sp>
      <p:sp>
        <p:nvSpPr>
          <p:cNvPr id="28" name="Text 26">
            <a:extLst>
              <a:ext uri="{FF2B5EF4-FFF2-40B4-BE49-F238E27FC236}">
                <a16:creationId xmlns:a16="http://schemas.microsoft.com/office/drawing/2014/main" id="{59F1FF39-7CF9-A714-777D-1FD7C900029C}"/>
              </a:ext>
            </a:extLst>
          </p:cNvPr>
          <p:cNvSpPr/>
          <p:nvPr/>
        </p:nvSpPr>
        <p:spPr>
          <a:xfrm>
            <a:off x="8354435" y="3987579"/>
            <a:ext cx="2608415" cy="969264"/>
          </a:xfrm>
          <a:prstGeom prst="rect">
            <a:avLst/>
          </a:prstGeom>
          <a:noFill/>
          <a:ln/>
        </p:spPr>
        <p:txBody>
          <a:bodyPr wrap="square" lIns="0" tIns="0" rIns="0" bIns="0" rtlCol="0" anchor="ctr"/>
          <a:lstStyle/>
          <a:p>
            <a:pPr marL="0" indent="0">
              <a:lnSpc>
                <a:spcPct val="130000"/>
              </a:lnSpc>
              <a:buNone/>
            </a:pPr>
            <a:r>
              <a:rPr lang="en-US" dirty="0">
                <a:solidFill>
                  <a:srgbClr val="2C3A4A"/>
                </a:solidFill>
                <a:latin typeface="Calibri" pitchFamily="34" charset="0"/>
                <a:ea typeface="Calibri" pitchFamily="34" charset="-122"/>
                <a:cs typeface="Calibri" pitchFamily="34" charset="-120"/>
              </a:rPr>
              <a:t>Unique phishing sites detected in a single year</a:t>
            </a:r>
            <a:endParaRPr lang="en-US" dirty="0"/>
          </a:p>
        </p:txBody>
      </p:sp>
      <p:sp>
        <p:nvSpPr>
          <p:cNvPr id="29" name="Text 27">
            <a:extLst>
              <a:ext uri="{FF2B5EF4-FFF2-40B4-BE49-F238E27FC236}">
                <a16:creationId xmlns:a16="http://schemas.microsoft.com/office/drawing/2014/main" id="{E32F16F3-F23D-31BC-573E-1BEAF9A03E8C}"/>
              </a:ext>
            </a:extLst>
          </p:cNvPr>
          <p:cNvSpPr/>
          <p:nvPr/>
        </p:nvSpPr>
        <p:spPr>
          <a:xfrm>
            <a:off x="8354435" y="4956843"/>
            <a:ext cx="2608413" cy="283464"/>
          </a:xfrm>
          <a:prstGeom prst="rect">
            <a:avLst/>
          </a:prstGeom>
          <a:noFill/>
          <a:ln/>
        </p:spPr>
        <p:txBody>
          <a:bodyPr wrap="square" lIns="0" tIns="0" rIns="0" bIns="0" rtlCol="0" anchor="ctr"/>
          <a:lstStyle/>
          <a:p>
            <a:pPr marL="0" indent="0">
              <a:buNone/>
            </a:pPr>
            <a:r>
              <a:rPr lang="en-US" sz="1200" i="1" dirty="0">
                <a:solidFill>
                  <a:srgbClr val="8899BB"/>
                </a:solidFill>
                <a:latin typeface="Calibri" pitchFamily="34" charset="0"/>
                <a:ea typeface="Calibri" pitchFamily="34" charset="-122"/>
                <a:cs typeface="Calibri" pitchFamily="34" charset="-120"/>
              </a:rPr>
              <a:t>APWG eCrime Report, 2023</a:t>
            </a:r>
            <a:endParaRPr lang="en-US" sz="1200" dirty="0"/>
          </a:p>
        </p:txBody>
      </p:sp>
      <p:sp>
        <p:nvSpPr>
          <p:cNvPr id="30" name="Shape 28">
            <a:extLst>
              <a:ext uri="{FF2B5EF4-FFF2-40B4-BE49-F238E27FC236}">
                <a16:creationId xmlns:a16="http://schemas.microsoft.com/office/drawing/2014/main" id="{51C04166-900C-4741-1886-722CA3B68590}"/>
              </a:ext>
            </a:extLst>
          </p:cNvPr>
          <p:cNvSpPr/>
          <p:nvPr/>
        </p:nvSpPr>
        <p:spPr>
          <a:xfrm>
            <a:off x="317654" y="6048557"/>
            <a:ext cx="11549667" cy="0"/>
          </a:xfrm>
          <a:prstGeom prst="line">
            <a:avLst/>
          </a:prstGeom>
          <a:noFill/>
          <a:ln w="12700">
            <a:solidFill>
              <a:srgbClr val="BBCCE8"/>
            </a:solidFill>
            <a:prstDash val="solid"/>
          </a:ln>
        </p:spPr>
        <p:txBody>
          <a:bodyPr/>
          <a:lstStyle/>
          <a:p>
            <a:endParaRPr lang="en-IN"/>
          </a:p>
        </p:txBody>
      </p:sp>
      <p:sp>
        <p:nvSpPr>
          <p:cNvPr id="31" name="Text 29">
            <a:extLst>
              <a:ext uri="{FF2B5EF4-FFF2-40B4-BE49-F238E27FC236}">
                <a16:creationId xmlns:a16="http://schemas.microsoft.com/office/drawing/2014/main" id="{82EFD9A2-5970-545B-B7A9-CDFC7EB6865E}"/>
              </a:ext>
            </a:extLst>
          </p:cNvPr>
          <p:cNvSpPr/>
          <p:nvPr/>
        </p:nvSpPr>
        <p:spPr>
          <a:xfrm>
            <a:off x="317654" y="6167429"/>
            <a:ext cx="11549667" cy="182880"/>
          </a:xfrm>
          <a:prstGeom prst="rect">
            <a:avLst/>
          </a:prstGeom>
          <a:noFill/>
          <a:ln/>
        </p:spPr>
        <p:txBody>
          <a:bodyPr wrap="square" lIns="0" tIns="0" rIns="0" bIns="0" rtlCol="0" anchor="ctr"/>
          <a:lstStyle/>
          <a:p>
            <a:pPr marL="0" indent="0" algn="l">
              <a:buNone/>
            </a:pPr>
            <a:r>
              <a:rPr lang="en-US" sz="1400" dirty="0">
                <a:solidFill>
                  <a:srgbClr val="556070"/>
                </a:solidFill>
                <a:latin typeface="Calibri" pitchFamily="34" charset="0"/>
                <a:ea typeface="Calibri" pitchFamily="34" charset="-122"/>
                <a:cs typeface="Calibri" pitchFamily="34" charset="-120"/>
              </a:rPr>
              <a:t>Phishing Website Detection System  ·  SASTRA Deemed University</a:t>
            </a:r>
            <a:endParaRPr lang="en-US" sz="1400" dirty="0"/>
          </a:p>
        </p:txBody>
      </p:sp>
    </p:spTree>
    <p:extLst>
      <p:ext uri="{BB962C8B-B14F-4D97-AF65-F5344CB8AC3E}">
        <p14:creationId xmlns:p14="http://schemas.microsoft.com/office/powerpoint/2010/main" val="813611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B5ADA-95B4-97D3-871C-785AE637A728}"/>
            </a:ext>
          </a:extLst>
        </p:cNvPr>
        <p:cNvGrpSpPr/>
        <p:nvPr/>
      </p:nvGrpSpPr>
      <p:grpSpPr>
        <a:xfrm>
          <a:off x="0" y="0"/>
          <a:ext cx="0" cy="0"/>
          <a:chOff x="0" y="0"/>
          <a:chExt cx="0" cy="0"/>
        </a:xfrm>
      </p:grpSpPr>
      <p:graphicFrame>
        <p:nvGraphicFramePr>
          <p:cNvPr id="4" name="Table 0"/>
          <p:cNvGraphicFramePr>
            <a:graphicFrameLocks noGrp="1"/>
          </p:cNvGraphicFramePr>
          <p:nvPr>
            <p:extLst>
              <p:ext uri="{D42A27DB-BD31-4B8C-83A1-F6EECF244321}">
                <p14:modId xmlns:p14="http://schemas.microsoft.com/office/powerpoint/2010/main" val="144510106"/>
              </p:ext>
            </p:extLst>
          </p:nvPr>
        </p:nvGraphicFramePr>
        <p:xfrm>
          <a:off x="0" y="1639954"/>
          <a:ext cx="12192000" cy="4800605"/>
        </p:xfrm>
        <a:graphic>
          <a:graphicData uri="http://schemas.openxmlformats.org/drawingml/2006/table">
            <a:tbl>
              <a:tblPr/>
              <a:tblGrid>
                <a:gridCol w="2167467">
                  <a:extLst>
                    <a:ext uri="{9D8B030D-6E8A-4147-A177-3AD203B41FA5}">
                      <a16:colId xmlns:a16="http://schemas.microsoft.com/office/drawing/2014/main" val="20000"/>
                    </a:ext>
                  </a:extLst>
                </a:gridCol>
                <a:gridCol w="3115732">
                  <a:extLst>
                    <a:ext uri="{9D8B030D-6E8A-4147-A177-3AD203B41FA5}">
                      <a16:colId xmlns:a16="http://schemas.microsoft.com/office/drawing/2014/main" val="20001"/>
                    </a:ext>
                  </a:extLst>
                </a:gridCol>
                <a:gridCol w="2980268">
                  <a:extLst>
                    <a:ext uri="{9D8B030D-6E8A-4147-A177-3AD203B41FA5}">
                      <a16:colId xmlns:a16="http://schemas.microsoft.com/office/drawing/2014/main" val="20002"/>
                    </a:ext>
                  </a:extLst>
                </a:gridCol>
                <a:gridCol w="3928533">
                  <a:extLst>
                    <a:ext uri="{9D8B030D-6E8A-4147-A177-3AD203B41FA5}">
                      <a16:colId xmlns:a16="http://schemas.microsoft.com/office/drawing/2014/main" val="20003"/>
                    </a:ext>
                  </a:extLst>
                </a:gridCol>
              </a:tblGrid>
              <a:tr h="769228">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Author &amp; Year</a:t>
                      </a:r>
                      <a:endParaRPr lang="en-US" sz="18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accent1">
                        <a:lumMod val="75000"/>
                      </a:schemeClr>
                    </a:solidFill>
                  </a:tcPr>
                </a:tc>
                <a:tc>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Title</a:t>
                      </a:r>
                      <a:endParaRPr lang="en-US" sz="18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accent1">
                        <a:lumMod val="75000"/>
                      </a:schemeClr>
                    </a:solidFill>
                  </a:tcPr>
                </a:tc>
                <a:tc>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Methodology</a:t>
                      </a:r>
                      <a:endParaRPr lang="en-US" sz="18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accent1">
                        <a:lumMod val="75000"/>
                      </a:schemeClr>
                    </a:solidFill>
                  </a:tcPr>
                </a:tc>
                <a:tc>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Key Findings &amp; Contributions</a:t>
                      </a:r>
                      <a:endParaRPr lang="en-US" sz="18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769228">
                <a:tc>
                  <a:txBody>
                    <a:bodyPr/>
                    <a:lstStyle/>
                    <a:p>
                      <a:pPr marL="0" indent="0">
                        <a:buNone/>
                      </a:pPr>
                      <a:r>
                        <a:rPr lang="en-US" sz="1400">
                          <a:solidFill>
                            <a:srgbClr val="000000"/>
                          </a:solidFill>
                          <a:latin typeface="Calibri" pitchFamily="34" charset="0"/>
                          <a:ea typeface="Calibri" pitchFamily="34" charset="-122"/>
                          <a:cs typeface="Calibri" pitchFamily="34" charset="-120"/>
                        </a:rPr>
                        <a:t>Mohammad et al. (2014)</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400">
                          <a:solidFill>
                            <a:srgbClr val="000000"/>
                          </a:solidFill>
                          <a:latin typeface="Calibri" pitchFamily="34" charset="0"/>
                          <a:ea typeface="Calibri" pitchFamily="34" charset="-122"/>
                          <a:cs typeface="Calibri" pitchFamily="34" charset="-120"/>
                        </a:rPr>
                        <a:t>Phishing Website Detection using Machine Learning</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Random Forest with URL-based features</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400">
                          <a:solidFill>
                            <a:srgbClr val="000000"/>
                          </a:solidFill>
                          <a:latin typeface="Calibri" pitchFamily="34" charset="0"/>
                          <a:ea typeface="Calibri" pitchFamily="34" charset="-122"/>
                          <a:cs typeface="Calibri" pitchFamily="34" charset="-120"/>
                        </a:rPr>
                        <a:t>Achieved 97% accuracy, demonstrated effectiveness of ensemble methods</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769228">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Abdelhamid et al. (2014)</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Feature Extraction Techniques for Phishing Detection</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marL="0" indent="0">
                        <a:buNone/>
                      </a:pPr>
                      <a:r>
                        <a:rPr lang="en-US" sz="1400">
                          <a:solidFill>
                            <a:srgbClr val="000000"/>
                          </a:solidFill>
                          <a:latin typeface="Calibri" pitchFamily="34" charset="0"/>
                          <a:ea typeface="Calibri" pitchFamily="34" charset="-122"/>
                          <a:cs typeface="Calibri" pitchFamily="34" charset="-120"/>
                        </a:rPr>
                        <a:t>Feature analysis and selection methods</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marL="0" indent="0">
                        <a:buNone/>
                      </a:pPr>
                      <a:r>
                        <a:rPr lang="en-US" sz="1400">
                          <a:solidFill>
                            <a:srgbClr val="000000"/>
                          </a:solidFill>
                          <a:latin typeface="Calibri" pitchFamily="34" charset="0"/>
                          <a:ea typeface="Calibri" pitchFamily="34" charset="-122"/>
                          <a:cs typeface="Calibri" pitchFamily="34" charset="-120"/>
                        </a:rPr>
                        <a:t>Identified 30 optimal URL features with high discriminative power</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extLst>
                  <a:ext uri="{0D108BD9-81ED-4DB2-BD59-A6C34878D82A}">
                    <a16:rowId xmlns:a16="http://schemas.microsoft.com/office/drawing/2014/main" val="10002"/>
                  </a:ext>
                </a:extLst>
              </a:tr>
              <a:tr h="769228">
                <a:tc>
                  <a:txBody>
                    <a:bodyPr/>
                    <a:lstStyle/>
                    <a:p>
                      <a:pPr marL="0" indent="0">
                        <a:buNone/>
                      </a:pPr>
                      <a:r>
                        <a:rPr lang="en-US" sz="1400">
                          <a:solidFill>
                            <a:srgbClr val="000000"/>
                          </a:solidFill>
                          <a:latin typeface="Calibri" pitchFamily="34" charset="0"/>
                          <a:ea typeface="Calibri" pitchFamily="34" charset="-122"/>
                          <a:cs typeface="Calibri" pitchFamily="34" charset="-120"/>
                        </a:rPr>
                        <a:t>Sahingoz et al. (2019)</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400">
                          <a:solidFill>
                            <a:srgbClr val="000000"/>
                          </a:solidFill>
                          <a:latin typeface="Calibri" pitchFamily="34" charset="0"/>
                          <a:ea typeface="Calibri" pitchFamily="34" charset="-122"/>
                          <a:cs typeface="Calibri" pitchFamily="34" charset="-120"/>
                        </a:rPr>
                        <a:t>XGBoost for Phishing URL Detection</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400">
                          <a:solidFill>
                            <a:srgbClr val="000000"/>
                          </a:solidFill>
                          <a:latin typeface="Calibri" pitchFamily="34" charset="0"/>
                          <a:ea typeface="Calibri" pitchFamily="34" charset="-122"/>
                          <a:cs typeface="Calibri" pitchFamily="34" charset="-120"/>
                        </a:rPr>
                        <a:t>XGBoost with gradient boosting</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98.2% accuracy with faster training and prediction times</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769228">
                <a:tc>
                  <a:txBody>
                    <a:bodyPr/>
                    <a:lstStyle/>
                    <a:p>
                      <a:pPr marL="0" indent="0">
                        <a:buNone/>
                      </a:pPr>
                      <a:r>
                        <a:rPr lang="en-US" sz="1400">
                          <a:solidFill>
                            <a:srgbClr val="000000"/>
                          </a:solidFill>
                          <a:latin typeface="Calibri" pitchFamily="34" charset="0"/>
                          <a:ea typeface="Calibri" pitchFamily="34" charset="-122"/>
                          <a:cs typeface="Calibri" pitchFamily="34" charset="-120"/>
                        </a:rPr>
                        <a:t>Rao &amp; Pais (2019)</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marL="0" indent="0">
                        <a:buNone/>
                      </a:pPr>
                      <a:r>
                        <a:rPr lang="en-US" sz="1400">
                          <a:solidFill>
                            <a:srgbClr val="000000"/>
                          </a:solidFill>
                          <a:latin typeface="Calibri" pitchFamily="34" charset="0"/>
                          <a:ea typeface="Calibri" pitchFamily="34" charset="-122"/>
                          <a:cs typeface="Calibri" pitchFamily="34" charset="-120"/>
                        </a:rPr>
                        <a:t>Deep Learning Approaches for Phishing Detection</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marL="0" indent="0">
                        <a:buNone/>
                      </a:pPr>
                      <a:r>
                        <a:rPr lang="en-US" sz="1400">
                          <a:solidFill>
                            <a:srgbClr val="000000"/>
                          </a:solidFill>
                          <a:latin typeface="Calibri" pitchFamily="34" charset="0"/>
                          <a:ea typeface="Calibri" pitchFamily="34" charset="-122"/>
                          <a:cs typeface="Calibri" pitchFamily="34" charset="-120"/>
                        </a:rPr>
                        <a:t>CNN with character-level features</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marL="0" indent="0">
                        <a:buNone/>
                      </a:pPr>
                      <a:r>
                        <a:rPr lang="en-US" sz="1400">
                          <a:solidFill>
                            <a:srgbClr val="000000"/>
                          </a:solidFill>
                          <a:latin typeface="Calibri" pitchFamily="34" charset="0"/>
                          <a:ea typeface="Calibri" pitchFamily="34" charset="-122"/>
                          <a:cs typeface="Calibri" pitchFamily="34" charset="-120"/>
                        </a:rPr>
                        <a:t>CNN models achieved 97.8% accuracy on URL analysis</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extLst>
                  <a:ext uri="{0D108BD9-81ED-4DB2-BD59-A6C34878D82A}">
                    <a16:rowId xmlns:a16="http://schemas.microsoft.com/office/drawing/2014/main" val="10004"/>
                  </a:ext>
                </a:extLst>
              </a:tr>
              <a:tr h="954465">
                <a:tc>
                  <a:txBody>
                    <a:bodyPr/>
                    <a:lstStyle/>
                    <a:p>
                      <a:pPr marL="0" indent="0">
                        <a:buNone/>
                      </a:pPr>
                      <a:r>
                        <a:rPr lang="en-US" sz="1400">
                          <a:solidFill>
                            <a:srgbClr val="000000"/>
                          </a:solidFill>
                          <a:latin typeface="Calibri" pitchFamily="34" charset="0"/>
                          <a:ea typeface="Calibri" pitchFamily="34" charset="-122"/>
                          <a:cs typeface="Calibri" pitchFamily="34" charset="-120"/>
                        </a:rPr>
                        <a:t>Barik, Misra &amp; Mohan (2025)</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400" dirty="0">
                          <a:latin typeface="Calibri" charset="0"/>
                          <a:ea typeface="Calibri" charset="0"/>
                          <a:cs typeface="Calibri" charset="0"/>
                        </a:rPr>
                        <a:t>Web-based phishing URL detection model using deep learning</a:t>
                      </a:r>
                    </a:p>
                    <a:p>
                      <a:pPr marL="0" indent="0">
                        <a:buNone/>
                      </a:pPr>
                      <a:r>
                        <a:rPr lang="en-US" sz="1400" dirty="0">
                          <a:latin typeface="Calibri" charset="0"/>
                          <a:ea typeface="Calibri" charset="0"/>
                          <a:cs typeface="Calibri" charset="0"/>
                        </a:rPr>
                        <a:t>optimization techniques</a:t>
                      </a: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ML + Deep Learning Based</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400" dirty="0">
                          <a:solidFill>
                            <a:srgbClr val="2C3A4A"/>
                          </a:solidFill>
                          <a:latin typeface="Calibri" pitchFamily="34" charset="0"/>
                          <a:ea typeface="Calibri" pitchFamily="34" charset="-122"/>
                          <a:cs typeface="Calibri" pitchFamily="34" charset="-120"/>
                        </a:rPr>
                        <a:t>EGSO-CNN hybrid achieves 99.44% accuracy. This project replicates and extends this benchmark using classical ML classifiers with </a:t>
                      </a:r>
                      <a:r>
                        <a:rPr lang="en-US" sz="1400" dirty="0" err="1">
                          <a:solidFill>
                            <a:srgbClr val="2C3A4A"/>
                          </a:solidFill>
                          <a:latin typeface="Calibri" pitchFamily="34" charset="0"/>
                          <a:ea typeface="Calibri" pitchFamily="34" charset="-122"/>
                          <a:cs typeface="Calibri" pitchFamily="34" charset="-120"/>
                        </a:rPr>
                        <a:t>Streamlit</a:t>
                      </a:r>
                      <a:r>
                        <a:rPr lang="en-US" sz="1400" dirty="0">
                          <a:solidFill>
                            <a:srgbClr val="2C3A4A"/>
                          </a:solidFill>
                          <a:latin typeface="Calibri" pitchFamily="34" charset="0"/>
                          <a:ea typeface="Calibri" pitchFamily="34" charset="-122"/>
                          <a:cs typeface="Calibri" pitchFamily="34" charset="-120"/>
                        </a:rPr>
                        <a:t> deployment.</a:t>
                      </a:r>
                      <a:endParaRPr lang="en-US" sz="1400" dirty="0">
                        <a:latin typeface="Calibri" charset="0"/>
                        <a:ea typeface="Calibri" charset="0"/>
                        <a:cs typeface="Calibri" charset="0"/>
                      </a:endParaRPr>
                    </a:p>
                  </a:txBody>
                  <a:tcPr marL="63500" marR="6350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ext 1"/>
          <p:cNvSpPr/>
          <p:nvPr/>
        </p:nvSpPr>
        <p:spPr>
          <a:xfrm>
            <a:off x="139148" y="914002"/>
            <a:ext cx="6759668" cy="815405"/>
          </a:xfrm>
          <a:prstGeom prst="rect">
            <a:avLst/>
          </a:prstGeom>
          <a:noFill/>
          <a:ln/>
        </p:spPr>
        <p:txBody>
          <a:bodyPr wrap="square" lIns="0" tIns="0" rIns="0" bIns="0" rtlCol="0" anchor="ctr"/>
          <a:lstStyle/>
          <a:p>
            <a:pPr marL="0" indent="0">
              <a:buNone/>
            </a:pPr>
            <a:r>
              <a:rPr lang="en-US" sz="3600" b="1" dirty="0">
                <a:solidFill>
                  <a:srgbClr val="1F3864"/>
                </a:solidFill>
                <a:latin typeface="Arial Black" panose="020B0A04020102020204" pitchFamily="34" charset="0"/>
                <a:ea typeface="Calibri" pitchFamily="34" charset="-122"/>
                <a:cs typeface="Calibri" pitchFamily="34" charset="-120"/>
              </a:rPr>
              <a:t>Literature Survey</a:t>
            </a:r>
            <a:endParaRPr lang="en-US" sz="3600" dirty="0">
              <a:latin typeface="Arial Black" panose="020B0A04020102020204" pitchFamily="34" charset="0"/>
            </a:endParaRPr>
          </a:p>
        </p:txBody>
      </p:sp>
    </p:spTree>
    <p:extLst>
      <p:ext uri="{BB962C8B-B14F-4D97-AF65-F5344CB8AC3E}">
        <p14:creationId xmlns:p14="http://schemas.microsoft.com/office/powerpoint/2010/main" val="3707347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D668C-6C95-A167-725A-B848CFA75AE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57805E6-9932-4252-1665-092BB6942C15}"/>
              </a:ext>
            </a:extLst>
          </p:cNvPr>
          <p:cNvSpPr/>
          <p:nvPr/>
        </p:nvSpPr>
        <p:spPr>
          <a:xfrm>
            <a:off x="198783" y="894522"/>
            <a:ext cx="8597348" cy="785191"/>
          </a:xfrm>
          <a:prstGeom prst="rect">
            <a:avLst/>
          </a:prstGeom>
          <a:noFill/>
          <a:ln/>
        </p:spPr>
        <p:txBody>
          <a:bodyPr wrap="square" lIns="0" tIns="0" rIns="0" bIns="0" rtlCol="0" anchor="ctr"/>
          <a:lstStyle/>
          <a:p>
            <a:pPr marL="0" indent="0">
              <a:buNone/>
            </a:pPr>
            <a:r>
              <a:rPr lang="en-US" sz="3600" b="1" dirty="0">
                <a:solidFill>
                  <a:schemeClr val="tx2">
                    <a:lumMod val="75000"/>
                  </a:schemeClr>
                </a:solidFill>
                <a:latin typeface="Arial Black" pitchFamily="34" charset="0"/>
                <a:ea typeface="Arial Black" pitchFamily="34" charset="-122"/>
                <a:cs typeface="Arial Black" pitchFamily="34" charset="-120"/>
              </a:rPr>
              <a:t>Project Objectives</a:t>
            </a:r>
            <a:endParaRPr lang="en-US" sz="3600" dirty="0">
              <a:solidFill>
                <a:schemeClr val="tx2">
                  <a:lumMod val="75000"/>
                </a:schemeClr>
              </a:solidFill>
            </a:endParaRPr>
          </a:p>
        </p:txBody>
      </p:sp>
      <p:sp>
        <p:nvSpPr>
          <p:cNvPr id="3" name="Shape 1">
            <a:extLst>
              <a:ext uri="{FF2B5EF4-FFF2-40B4-BE49-F238E27FC236}">
                <a16:creationId xmlns:a16="http://schemas.microsoft.com/office/drawing/2014/main" id="{9DD7166A-1C7D-0115-CF7A-8F669AD4FEC2}"/>
              </a:ext>
            </a:extLst>
          </p:cNvPr>
          <p:cNvSpPr/>
          <p:nvPr/>
        </p:nvSpPr>
        <p:spPr>
          <a:xfrm>
            <a:off x="894520" y="1679713"/>
            <a:ext cx="10650689" cy="102328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4" name="Shape 2">
            <a:extLst>
              <a:ext uri="{FF2B5EF4-FFF2-40B4-BE49-F238E27FC236}">
                <a16:creationId xmlns:a16="http://schemas.microsoft.com/office/drawing/2014/main" id="{DD7112D4-1F3B-52B5-41C1-0625933BED58}"/>
              </a:ext>
            </a:extLst>
          </p:cNvPr>
          <p:cNvSpPr/>
          <p:nvPr/>
        </p:nvSpPr>
        <p:spPr>
          <a:xfrm>
            <a:off x="894520" y="1679713"/>
            <a:ext cx="106507" cy="1023288"/>
          </a:xfrm>
          <a:prstGeom prst="rect">
            <a:avLst/>
          </a:prstGeom>
          <a:solidFill>
            <a:schemeClr val="accent1">
              <a:lumMod val="75000"/>
            </a:schemeClr>
          </a:solidFill>
          <a:ln/>
        </p:spPr>
        <p:txBody>
          <a:bodyPr/>
          <a:lstStyle/>
          <a:p>
            <a:endParaRPr lang="en-IN"/>
          </a:p>
        </p:txBody>
      </p:sp>
      <p:sp>
        <p:nvSpPr>
          <p:cNvPr id="5" name="Text 3">
            <a:extLst>
              <a:ext uri="{FF2B5EF4-FFF2-40B4-BE49-F238E27FC236}">
                <a16:creationId xmlns:a16="http://schemas.microsoft.com/office/drawing/2014/main" id="{C238289B-B72E-EB30-75D3-E26745DE0A53}"/>
              </a:ext>
            </a:extLst>
          </p:cNvPr>
          <p:cNvSpPr/>
          <p:nvPr/>
        </p:nvSpPr>
        <p:spPr>
          <a:xfrm>
            <a:off x="1004403" y="1765496"/>
            <a:ext cx="9851887" cy="361160"/>
          </a:xfrm>
          <a:prstGeom prst="rect">
            <a:avLst/>
          </a:prstGeom>
          <a:noFill/>
          <a:ln/>
        </p:spPr>
        <p:txBody>
          <a:bodyPr wrap="square" rtlCol="0" anchor="ctr"/>
          <a:lstStyle/>
          <a:p>
            <a:pPr marL="0" indent="0">
              <a:buNone/>
            </a:pPr>
            <a:r>
              <a:rPr lang="en-US" sz="2000" b="1" dirty="0">
                <a:solidFill>
                  <a:schemeClr val="accent1">
                    <a:lumMod val="75000"/>
                  </a:schemeClr>
                </a:solidFill>
                <a:latin typeface="Calibri" pitchFamily="34" charset="0"/>
                <a:ea typeface="Calibri" pitchFamily="34" charset="-122"/>
                <a:cs typeface="Calibri" pitchFamily="34" charset="-120"/>
              </a:rPr>
              <a:t>Develop ML-Based Detection System</a:t>
            </a:r>
            <a:endParaRPr lang="en-US" sz="2000" dirty="0">
              <a:solidFill>
                <a:schemeClr val="accent1">
                  <a:lumMod val="75000"/>
                </a:schemeClr>
              </a:solidFill>
            </a:endParaRPr>
          </a:p>
        </p:txBody>
      </p:sp>
      <p:sp>
        <p:nvSpPr>
          <p:cNvPr id="6" name="Text 4">
            <a:extLst>
              <a:ext uri="{FF2B5EF4-FFF2-40B4-BE49-F238E27FC236}">
                <a16:creationId xmlns:a16="http://schemas.microsoft.com/office/drawing/2014/main" id="{0D8D02CF-A82E-4C83-D009-B0A9D9AD486A}"/>
              </a:ext>
            </a:extLst>
          </p:cNvPr>
          <p:cNvSpPr/>
          <p:nvPr/>
        </p:nvSpPr>
        <p:spPr>
          <a:xfrm>
            <a:off x="1214560" y="2153621"/>
            <a:ext cx="9851887" cy="481547"/>
          </a:xfrm>
          <a:prstGeom prst="rect">
            <a:avLst/>
          </a:prstGeom>
          <a:noFill/>
          <a:ln/>
        </p:spPr>
        <p:txBody>
          <a:bodyPr wrap="square" rtlCol="0" anchor="ctr"/>
          <a:lstStyle/>
          <a:p>
            <a:pPr marL="0" indent="0">
              <a:buNone/>
            </a:pPr>
            <a:r>
              <a:rPr lang="en-US" dirty="0">
                <a:solidFill>
                  <a:srgbClr val="1F2937"/>
                </a:solidFill>
                <a:latin typeface="Calibri" pitchFamily="34" charset="0"/>
                <a:ea typeface="Calibri" pitchFamily="34" charset="-122"/>
                <a:cs typeface="Calibri" pitchFamily="34" charset="-120"/>
              </a:rPr>
              <a:t>Create a phishing detection system using URL-based features and machine learning algorithms</a:t>
            </a:r>
            <a:endParaRPr lang="en-US" dirty="0"/>
          </a:p>
        </p:txBody>
      </p:sp>
      <p:sp>
        <p:nvSpPr>
          <p:cNvPr id="7" name="Shape 5">
            <a:extLst>
              <a:ext uri="{FF2B5EF4-FFF2-40B4-BE49-F238E27FC236}">
                <a16:creationId xmlns:a16="http://schemas.microsoft.com/office/drawing/2014/main" id="{F86F9A87-6540-D2D9-0F2A-E9470A27CBB8}"/>
              </a:ext>
            </a:extLst>
          </p:cNvPr>
          <p:cNvSpPr/>
          <p:nvPr/>
        </p:nvSpPr>
        <p:spPr>
          <a:xfrm>
            <a:off x="894520" y="2826115"/>
            <a:ext cx="10650689" cy="1078776"/>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8" name="Shape 6">
            <a:extLst>
              <a:ext uri="{FF2B5EF4-FFF2-40B4-BE49-F238E27FC236}">
                <a16:creationId xmlns:a16="http://schemas.microsoft.com/office/drawing/2014/main" id="{56B580C8-57AB-B6AB-A865-49020E755917}"/>
              </a:ext>
            </a:extLst>
          </p:cNvPr>
          <p:cNvSpPr/>
          <p:nvPr/>
        </p:nvSpPr>
        <p:spPr>
          <a:xfrm>
            <a:off x="894520" y="2826115"/>
            <a:ext cx="106507" cy="1078776"/>
          </a:xfrm>
          <a:prstGeom prst="rect">
            <a:avLst/>
          </a:prstGeom>
          <a:solidFill>
            <a:schemeClr val="accent1">
              <a:lumMod val="75000"/>
            </a:schemeClr>
          </a:solidFill>
          <a:ln/>
        </p:spPr>
        <p:txBody>
          <a:bodyPr/>
          <a:lstStyle/>
          <a:p>
            <a:endParaRPr lang="en-IN"/>
          </a:p>
        </p:txBody>
      </p:sp>
      <p:sp>
        <p:nvSpPr>
          <p:cNvPr id="9" name="Text 7">
            <a:extLst>
              <a:ext uri="{FF2B5EF4-FFF2-40B4-BE49-F238E27FC236}">
                <a16:creationId xmlns:a16="http://schemas.microsoft.com/office/drawing/2014/main" id="{2966A824-F8F7-2A13-AEAA-C05AC43EBFDA}"/>
              </a:ext>
            </a:extLst>
          </p:cNvPr>
          <p:cNvSpPr/>
          <p:nvPr/>
        </p:nvSpPr>
        <p:spPr>
          <a:xfrm>
            <a:off x="1004403" y="2872237"/>
            <a:ext cx="9851887" cy="380744"/>
          </a:xfrm>
          <a:prstGeom prst="rect">
            <a:avLst/>
          </a:prstGeom>
          <a:noFill/>
          <a:ln/>
        </p:spPr>
        <p:txBody>
          <a:bodyPr wrap="square" rtlCol="0" anchor="ctr"/>
          <a:lstStyle/>
          <a:p>
            <a:pPr marL="0" indent="0">
              <a:buNone/>
            </a:pPr>
            <a:r>
              <a:rPr lang="en-US" sz="2000" b="1" dirty="0">
                <a:solidFill>
                  <a:schemeClr val="accent1">
                    <a:lumMod val="75000"/>
                  </a:schemeClr>
                </a:solidFill>
                <a:latin typeface="Calibri" pitchFamily="34" charset="0"/>
                <a:ea typeface="Calibri" pitchFamily="34" charset="-122"/>
                <a:cs typeface="Calibri" pitchFamily="34" charset="-120"/>
              </a:rPr>
              <a:t>Compare Classification Models</a:t>
            </a:r>
            <a:endParaRPr lang="en-US" sz="2000" dirty="0">
              <a:solidFill>
                <a:schemeClr val="accent1">
                  <a:lumMod val="75000"/>
                </a:schemeClr>
              </a:solidFill>
            </a:endParaRPr>
          </a:p>
        </p:txBody>
      </p:sp>
      <p:sp>
        <p:nvSpPr>
          <p:cNvPr id="10" name="Text 8">
            <a:extLst>
              <a:ext uri="{FF2B5EF4-FFF2-40B4-BE49-F238E27FC236}">
                <a16:creationId xmlns:a16="http://schemas.microsoft.com/office/drawing/2014/main" id="{D9580F4F-F528-AE12-AFD7-7954FB743499}"/>
              </a:ext>
            </a:extLst>
          </p:cNvPr>
          <p:cNvSpPr/>
          <p:nvPr/>
        </p:nvSpPr>
        <p:spPr>
          <a:xfrm>
            <a:off x="1214560" y="3351512"/>
            <a:ext cx="9851887" cy="507659"/>
          </a:xfrm>
          <a:prstGeom prst="rect">
            <a:avLst/>
          </a:prstGeom>
          <a:noFill/>
          <a:ln/>
        </p:spPr>
        <p:txBody>
          <a:bodyPr wrap="square" rtlCol="0" anchor="ctr"/>
          <a:lstStyle/>
          <a:p>
            <a:pPr marL="0" indent="0">
              <a:buNone/>
            </a:pPr>
            <a:r>
              <a:rPr lang="en-US" dirty="0">
                <a:solidFill>
                  <a:srgbClr val="1F2937"/>
                </a:solidFill>
                <a:latin typeface="Calibri" pitchFamily="34" charset="0"/>
                <a:ea typeface="Calibri" pitchFamily="34" charset="-122"/>
                <a:cs typeface="Calibri" pitchFamily="34" charset="-120"/>
              </a:rPr>
              <a:t>Evaluate and compare multiple supervised learning models including KNN, Logistic Regression, Naive Bayes, Decision Tree, Random Forest, SVM, and XGBoost</a:t>
            </a:r>
            <a:endParaRPr lang="en-US" dirty="0"/>
          </a:p>
        </p:txBody>
      </p:sp>
      <p:sp>
        <p:nvSpPr>
          <p:cNvPr id="11" name="Shape 9">
            <a:extLst>
              <a:ext uri="{FF2B5EF4-FFF2-40B4-BE49-F238E27FC236}">
                <a16:creationId xmlns:a16="http://schemas.microsoft.com/office/drawing/2014/main" id="{62FBA832-5382-F73C-6A4A-0E2FBE8D26B4}"/>
              </a:ext>
            </a:extLst>
          </p:cNvPr>
          <p:cNvSpPr/>
          <p:nvPr/>
        </p:nvSpPr>
        <p:spPr>
          <a:xfrm>
            <a:off x="894521" y="3970302"/>
            <a:ext cx="10650689" cy="1124495"/>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2" name="Shape 10">
            <a:extLst>
              <a:ext uri="{FF2B5EF4-FFF2-40B4-BE49-F238E27FC236}">
                <a16:creationId xmlns:a16="http://schemas.microsoft.com/office/drawing/2014/main" id="{7E24D64F-3509-45C3-AFC5-011A9A22187D}"/>
              </a:ext>
            </a:extLst>
          </p:cNvPr>
          <p:cNvSpPr/>
          <p:nvPr/>
        </p:nvSpPr>
        <p:spPr>
          <a:xfrm>
            <a:off x="894521" y="3970302"/>
            <a:ext cx="106507" cy="1124495"/>
          </a:xfrm>
          <a:prstGeom prst="rect">
            <a:avLst/>
          </a:prstGeom>
          <a:solidFill>
            <a:schemeClr val="accent1">
              <a:lumMod val="75000"/>
            </a:schemeClr>
          </a:solidFill>
          <a:ln/>
        </p:spPr>
        <p:txBody>
          <a:bodyPr/>
          <a:lstStyle/>
          <a:p>
            <a:endParaRPr lang="en-IN"/>
          </a:p>
        </p:txBody>
      </p:sp>
      <p:sp>
        <p:nvSpPr>
          <p:cNvPr id="13" name="Text 11">
            <a:extLst>
              <a:ext uri="{FF2B5EF4-FFF2-40B4-BE49-F238E27FC236}">
                <a16:creationId xmlns:a16="http://schemas.microsoft.com/office/drawing/2014/main" id="{27FADE48-E55F-052C-A96E-0BE06593B503}"/>
              </a:ext>
            </a:extLst>
          </p:cNvPr>
          <p:cNvSpPr/>
          <p:nvPr/>
        </p:nvSpPr>
        <p:spPr>
          <a:xfrm>
            <a:off x="1040847" y="4065103"/>
            <a:ext cx="9851887" cy="396881"/>
          </a:xfrm>
          <a:prstGeom prst="rect">
            <a:avLst/>
          </a:prstGeom>
          <a:noFill/>
          <a:ln/>
        </p:spPr>
        <p:txBody>
          <a:bodyPr wrap="square" rtlCol="0" anchor="ctr"/>
          <a:lstStyle/>
          <a:p>
            <a:pPr marL="0" indent="0">
              <a:buNone/>
            </a:pPr>
            <a:r>
              <a:rPr lang="en-US" sz="2000" b="1" dirty="0">
                <a:solidFill>
                  <a:schemeClr val="accent1">
                    <a:lumMod val="75000"/>
                  </a:schemeClr>
                </a:solidFill>
                <a:latin typeface="Calibri" pitchFamily="34" charset="0"/>
                <a:ea typeface="Calibri" pitchFamily="34" charset="-122"/>
                <a:cs typeface="Calibri" pitchFamily="34" charset="-120"/>
              </a:rPr>
              <a:t>Implement Web Interface</a:t>
            </a:r>
            <a:endParaRPr lang="en-US" sz="2000" dirty="0">
              <a:solidFill>
                <a:schemeClr val="accent1">
                  <a:lumMod val="75000"/>
                </a:schemeClr>
              </a:solidFill>
            </a:endParaRPr>
          </a:p>
        </p:txBody>
      </p:sp>
      <p:sp>
        <p:nvSpPr>
          <p:cNvPr id="14" name="Text 12">
            <a:extLst>
              <a:ext uri="{FF2B5EF4-FFF2-40B4-BE49-F238E27FC236}">
                <a16:creationId xmlns:a16="http://schemas.microsoft.com/office/drawing/2014/main" id="{7430F8B1-C9FC-2318-BC98-E5D11708CF84}"/>
              </a:ext>
            </a:extLst>
          </p:cNvPr>
          <p:cNvSpPr/>
          <p:nvPr/>
        </p:nvSpPr>
        <p:spPr>
          <a:xfrm>
            <a:off x="1214561" y="4374675"/>
            <a:ext cx="9851887" cy="529175"/>
          </a:xfrm>
          <a:prstGeom prst="rect">
            <a:avLst/>
          </a:prstGeom>
          <a:noFill/>
          <a:ln/>
        </p:spPr>
        <p:txBody>
          <a:bodyPr wrap="square" rtlCol="0" anchor="ctr"/>
          <a:lstStyle/>
          <a:p>
            <a:pPr marL="0" indent="0">
              <a:buNone/>
            </a:pPr>
            <a:r>
              <a:rPr lang="en-US" dirty="0">
                <a:solidFill>
                  <a:srgbClr val="1F2937"/>
                </a:solidFill>
                <a:latin typeface="Calibri" pitchFamily="34" charset="0"/>
                <a:ea typeface="Calibri" pitchFamily="34" charset="-122"/>
                <a:cs typeface="Calibri" pitchFamily="34" charset="-120"/>
              </a:rPr>
              <a:t>Build a user-friendly web interface for URL analysis and prediction</a:t>
            </a:r>
            <a:endParaRPr lang="en-US" dirty="0"/>
          </a:p>
        </p:txBody>
      </p:sp>
      <p:sp>
        <p:nvSpPr>
          <p:cNvPr id="15" name="Shape 13">
            <a:extLst>
              <a:ext uri="{FF2B5EF4-FFF2-40B4-BE49-F238E27FC236}">
                <a16:creationId xmlns:a16="http://schemas.microsoft.com/office/drawing/2014/main" id="{39F3B18F-107B-5093-B178-652F51707C04}"/>
              </a:ext>
            </a:extLst>
          </p:cNvPr>
          <p:cNvSpPr/>
          <p:nvPr/>
        </p:nvSpPr>
        <p:spPr>
          <a:xfrm>
            <a:off x="1023730" y="5231958"/>
            <a:ext cx="11168269" cy="1165858"/>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16" name="Shape 14">
            <a:extLst>
              <a:ext uri="{FF2B5EF4-FFF2-40B4-BE49-F238E27FC236}">
                <a16:creationId xmlns:a16="http://schemas.microsoft.com/office/drawing/2014/main" id="{DB9D9FF6-4B0E-D2D3-D473-EFAA6A119D68}"/>
              </a:ext>
            </a:extLst>
          </p:cNvPr>
          <p:cNvSpPr/>
          <p:nvPr/>
        </p:nvSpPr>
        <p:spPr>
          <a:xfrm>
            <a:off x="894521" y="5140518"/>
            <a:ext cx="111683" cy="1165858"/>
          </a:xfrm>
          <a:prstGeom prst="rect">
            <a:avLst/>
          </a:prstGeom>
          <a:solidFill>
            <a:schemeClr val="accent1">
              <a:lumMod val="75000"/>
            </a:schemeClr>
          </a:solidFill>
          <a:ln/>
        </p:spPr>
        <p:txBody>
          <a:bodyPr/>
          <a:lstStyle/>
          <a:p>
            <a:endParaRPr lang="en-IN"/>
          </a:p>
        </p:txBody>
      </p:sp>
      <p:sp>
        <p:nvSpPr>
          <p:cNvPr id="17" name="Text 15">
            <a:extLst>
              <a:ext uri="{FF2B5EF4-FFF2-40B4-BE49-F238E27FC236}">
                <a16:creationId xmlns:a16="http://schemas.microsoft.com/office/drawing/2014/main" id="{F376CB73-DC82-89B5-62B7-E59C3AD33194}"/>
              </a:ext>
            </a:extLst>
          </p:cNvPr>
          <p:cNvSpPr/>
          <p:nvPr/>
        </p:nvSpPr>
        <p:spPr>
          <a:xfrm>
            <a:off x="1040847" y="5213422"/>
            <a:ext cx="10330649" cy="411479"/>
          </a:xfrm>
          <a:prstGeom prst="rect">
            <a:avLst/>
          </a:prstGeom>
          <a:noFill/>
          <a:ln/>
        </p:spPr>
        <p:txBody>
          <a:bodyPr wrap="square" rtlCol="0" anchor="ctr"/>
          <a:lstStyle/>
          <a:p>
            <a:pPr marL="0" indent="0">
              <a:buNone/>
            </a:pPr>
            <a:r>
              <a:rPr lang="en-US" sz="2000" b="1" dirty="0">
                <a:solidFill>
                  <a:schemeClr val="accent1">
                    <a:lumMod val="75000"/>
                  </a:schemeClr>
                </a:solidFill>
                <a:latin typeface="Calibri" pitchFamily="34" charset="0"/>
                <a:ea typeface="Calibri" pitchFamily="34" charset="-122"/>
                <a:cs typeface="Calibri" pitchFamily="34" charset="-120"/>
              </a:rPr>
              <a:t>Optimize Performance</a:t>
            </a:r>
            <a:endParaRPr lang="en-US" sz="2000" dirty="0">
              <a:solidFill>
                <a:schemeClr val="accent1">
                  <a:lumMod val="75000"/>
                </a:schemeClr>
              </a:solidFill>
            </a:endParaRPr>
          </a:p>
        </p:txBody>
      </p:sp>
      <p:sp>
        <p:nvSpPr>
          <p:cNvPr id="18" name="Text 16">
            <a:extLst>
              <a:ext uri="{FF2B5EF4-FFF2-40B4-BE49-F238E27FC236}">
                <a16:creationId xmlns:a16="http://schemas.microsoft.com/office/drawing/2014/main" id="{8EFD0306-06ED-E6E5-7FDE-4728A52851F2}"/>
              </a:ext>
            </a:extLst>
          </p:cNvPr>
          <p:cNvSpPr/>
          <p:nvPr/>
        </p:nvSpPr>
        <p:spPr>
          <a:xfrm>
            <a:off x="1214560" y="5597718"/>
            <a:ext cx="10330649" cy="548639"/>
          </a:xfrm>
          <a:prstGeom prst="rect">
            <a:avLst/>
          </a:prstGeom>
          <a:noFill/>
          <a:ln/>
        </p:spPr>
        <p:txBody>
          <a:bodyPr wrap="square" rtlCol="0" anchor="ctr"/>
          <a:lstStyle/>
          <a:p>
            <a:pPr marL="0" indent="0">
              <a:buNone/>
            </a:pPr>
            <a:r>
              <a:rPr lang="en-US" dirty="0">
                <a:solidFill>
                  <a:srgbClr val="1F2937"/>
                </a:solidFill>
                <a:latin typeface="Calibri" pitchFamily="34" charset="0"/>
                <a:ea typeface="Calibri" pitchFamily="34" charset="-122"/>
                <a:cs typeface="Calibri" pitchFamily="34" charset="-120"/>
              </a:rPr>
              <a:t>Evaluate models using accuracy, precision, recall, F1-score, ROC-AUC, processing time, and memory usage to identify the best performing approach</a:t>
            </a:r>
            <a:endParaRPr lang="en-US" dirty="0"/>
          </a:p>
        </p:txBody>
      </p:sp>
    </p:spTree>
    <p:extLst>
      <p:ext uri="{BB962C8B-B14F-4D97-AF65-F5344CB8AC3E}">
        <p14:creationId xmlns:p14="http://schemas.microsoft.com/office/powerpoint/2010/main" val="1940030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333D10-3338-B58D-F5B7-65607C83449E}"/>
              </a:ext>
            </a:extLst>
          </p:cNvPr>
          <p:cNvSpPr txBox="1"/>
          <p:nvPr/>
        </p:nvSpPr>
        <p:spPr>
          <a:xfrm>
            <a:off x="467139" y="1162879"/>
            <a:ext cx="9859618" cy="646331"/>
          </a:xfrm>
          <a:prstGeom prst="rect">
            <a:avLst/>
          </a:prstGeom>
          <a:noFill/>
        </p:spPr>
        <p:txBody>
          <a:bodyPr wrap="square" rtlCol="0">
            <a:spAutoFit/>
          </a:bodyPr>
          <a:lstStyle/>
          <a:p>
            <a:r>
              <a:rPr lang="en-IN" sz="3600" b="1" dirty="0">
                <a:solidFill>
                  <a:schemeClr val="tx2">
                    <a:lumMod val="75000"/>
                  </a:schemeClr>
                </a:solidFill>
                <a:latin typeface="Arial Black" panose="020B0A04020102020204" pitchFamily="34" charset="0"/>
              </a:rPr>
              <a:t>Dataset Information</a:t>
            </a:r>
          </a:p>
        </p:txBody>
      </p:sp>
      <p:pic>
        <p:nvPicPr>
          <p:cNvPr id="6" name="Picture 5">
            <a:extLst>
              <a:ext uri="{FF2B5EF4-FFF2-40B4-BE49-F238E27FC236}">
                <a16:creationId xmlns:a16="http://schemas.microsoft.com/office/drawing/2014/main" id="{5A6EE905-F42B-F194-D70C-EE35B16402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139" y="2231273"/>
            <a:ext cx="11300791" cy="3533423"/>
          </a:xfrm>
          <a:prstGeom prst="rect">
            <a:avLst/>
          </a:prstGeom>
        </p:spPr>
      </p:pic>
    </p:spTree>
    <p:extLst>
      <p:ext uri="{BB962C8B-B14F-4D97-AF65-F5344CB8AC3E}">
        <p14:creationId xmlns:p14="http://schemas.microsoft.com/office/powerpoint/2010/main" val="3767963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B32B1-35BD-1A26-15B5-8FA2F4129F33}"/>
            </a:ext>
          </a:extLst>
        </p:cNvPr>
        <p:cNvGrpSpPr/>
        <p:nvPr/>
      </p:nvGrpSpPr>
      <p:grpSpPr>
        <a:xfrm>
          <a:off x="0" y="0"/>
          <a:ext cx="0" cy="0"/>
          <a:chOff x="0" y="0"/>
          <a:chExt cx="0" cy="0"/>
        </a:xfrm>
      </p:grpSpPr>
      <p:sp>
        <p:nvSpPr>
          <p:cNvPr id="34" name="Text 0">
            <a:extLst>
              <a:ext uri="{FF2B5EF4-FFF2-40B4-BE49-F238E27FC236}">
                <a16:creationId xmlns:a16="http://schemas.microsoft.com/office/drawing/2014/main" id="{BA916F97-B955-3262-0BCB-B8113E572106}"/>
              </a:ext>
            </a:extLst>
          </p:cNvPr>
          <p:cNvSpPr/>
          <p:nvPr/>
        </p:nvSpPr>
        <p:spPr>
          <a:xfrm>
            <a:off x="238538" y="1113261"/>
            <a:ext cx="5247862" cy="548640"/>
          </a:xfrm>
          <a:prstGeom prst="rect">
            <a:avLst/>
          </a:prstGeom>
          <a:noFill/>
          <a:ln/>
        </p:spPr>
        <p:txBody>
          <a:bodyPr wrap="square" lIns="0" tIns="0" rIns="0" bIns="0" rtlCol="0" anchor="ctr"/>
          <a:lstStyle/>
          <a:p>
            <a:pPr marL="0" indent="0" algn="l">
              <a:buNone/>
            </a:pPr>
            <a:r>
              <a:rPr lang="en-US" sz="3600" b="1" dirty="0">
                <a:solidFill>
                  <a:schemeClr val="tx2">
                    <a:lumMod val="75000"/>
                  </a:schemeClr>
                </a:solidFill>
                <a:latin typeface="Arial Black" panose="020B0A04020102020204" pitchFamily="34" charset="0"/>
              </a:rPr>
              <a:t>Work Carried Out</a:t>
            </a:r>
            <a:endParaRPr lang="en-US" sz="3600" dirty="0">
              <a:solidFill>
                <a:schemeClr val="tx2">
                  <a:lumMod val="75000"/>
                </a:schemeClr>
              </a:solidFill>
              <a:latin typeface="Arial Black" panose="020B0A04020102020204" pitchFamily="34" charset="0"/>
            </a:endParaRPr>
          </a:p>
        </p:txBody>
      </p:sp>
      <p:pic>
        <p:nvPicPr>
          <p:cNvPr id="36" name="Picture 35">
            <a:extLst>
              <a:ext uri="{FF2B5EF4-FFF2-40B4-BE49-F238E27FC236}">
                <a16:creationId xmlns:a16="http://schemas.microsoft.com/office/drawing/2014/main" id="{36E8E3BB-6C18-B844-2463-52E4CB602C62}"/>
              </a:ext>
            </a:extLst>
          </p:cNvPr>
          <p:cNvPicPr>
            <a:picLocks noChangeAspect="1"/>
          </p:cNvPicPr>
          <p:nvPr/>
        </p:nvPicPr>
        <p:blipFill>
          <a:blip r:embed="rId2"/>
          <a:stretch>
            <a:fillRect/>
          </a:stretch>
        </p:blipFill>
        <p:spPr>
          <a:xfrm>
            <a:off x="506355" y="3719299"/>
            <a:ext cx="11301332" cy="2442961"/>
          </a:xfrm>
          <a:prstGeom prst="rect">
            <a:avLst/>
          </a:prstGeom>
        </p:spPr>
      </p:pic>
      <p:sp>
        <p:nvSpPr>
          <p:cNvPr id="37" name="TextBox 36">
            <a:extLst>
              <a:ext uri="{FF2B5EF4-FFF2-40B4-BE49-F238E27FC236}">
                <a16:creationId xmlns:a16="http://schemas.microsoft.com/office/drawing/2014/main" id="{977A3909-2E4D-2503-CE59-89F61C33CC47}"/>
              </a:ext>
            </a:extLst>
          </p:cNvPr>
          <p:cNvSpPr txBox="1"/>
          <p:nvPr/>
        </p:nvSpPr>
        <p:spPr>
          <a:xfrm>
            <a:off x="149087" y="2045611"/>
            <a:ext cx="11804374" cy="1517186"/>
          </a:xfrm>
          <a:prstGeom prst="rect">
            <a:avLst/>
          </a:prstGeom>
          <a:solidFill>
            <a:schemeClr val="bg1"/>
          </a:solidFill>
          <a:ln>
            <a:solidFill>
              <a:schemeClr val="bg2"/>
            </a:solidFill>
          </a:ln>
        </p:spPr>
        <p:txBody>
          <a:bodyPr wrap="square" rtlCol="0">
            <a:spAutoFit/>
          </a:bodyPr>
          <a:lstStyle/>
          <a:p>
            <a:endParaRPr lang="en-IN" dirty="0"/>
          </a:p>
        </p:txBody>
      </p:sp>
      <p:sp>
        <p:nvSpPr>
          <p:cNvPr id="38" name="TextBox 37">
            <a:extLst>
              <a:ext uri="{FF2B5EF4-FFF2-40B4-BE49-F238E27FC236}">
                <a16:creationId xmlns:a16="http://schemas.microsoft.com/office/drawing/2014/main" id="{D462A3BD-71CA-CF3A-F67C-A574BB151483}"/>
              </a:ext>
            </a:extLst>
          </p:cNvPr>
          <p:cNvSpPr txBox="1"/>
          <p:nvPr/>
        </p:nvSpPr>
        <p:spPr>
          <a:xfrm>
            <a:off x="506355" y="2375452"/>
            <a:ext cx="10844132" cy="923330"/>
          </a:xfrm>
          <a:prstGeom prst="rect">
            <a:avLst/>
          </a:prstGeom>
          <a:noFill/>
        </p:spPr>
        <p:txBody>
          <a:bodyPr wrap="square" rtlCol="0">
            <a:spAutoFit/>
          </a:bodyPr>
          <a:lstStyle/>
          <a:p>
            <a:pPr marL="285750" indent="-285750">
              <a:buFont typeface="Arial" panose="020B0604020202020204" pitchFamily="34" charset="0"/>
              <a:buChar char="•"/>
            </a:pPr>
            <a:r>
              <a:rPr lang="en-US" dirty="0"/>
              <a:t>Work carried out on 7 supervised ML classifiers (UCI Phishing Dataset — 11,055 samples, 30 features, 70/30 split, </a:t>
            </a:r>
            <a:r>
              <a:rPr lang="en-US" dirty="0" err="1"/>
              <a:t>StandardScaler</a:t>
            </a:r>
            <a:r>
              <a:rPr lang="en-US" dirty="0"/>
              <a:t>) evaluated across Accuracy, Precision, Recall, F1, ROC-AUC, Prediction Time, Peak Memory, and Overfitting analysis.</a:t>
            </a:r>
          </a:p>
        </p:txBody>
      </p:sp>
    </p:spTree>
    <p:extLst>
      <p:ext uri="{BB962C8B-B14F-4D97-AF65-F5344CB8AC3E}">
        <p14:creationId xmlns:p14="http://schemas.microsoft.com/office/powerpoint/2010/main" val="447598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A7110E-F405-4BB4-D1CA-2594E6067B34}"/>
              </a:ext>
            </a:extLst>
          </p:cNvPr>
          <p:cNvSpPr txBox="1"/>
          <p:nvPr/>
        </p:nvSpPr>
        <p:spPr>
          <a:xfrm>
            <a:off x="437322" y="1182757"/>
            <a:ext cx="3965713" cy="646331"/>
          </a:xfrm>
          <a:prstGeom prst="rect">
            <a:avLst/>
          </a:prstGeom>
          <a:noFill/>
        </p:spPr>
        <p:txBody>
          <a:bodyPr wrap="square" rtlCol="0">
            <a:spAutoFit/>
          </a:bodyPr>
          <a:lstStyle/>
          <a:p>
            <a:r>
              <a:rPr lang="en-IN" sz="3600" b="1" dirty="0" err="1">
                <a:solidFill>
                  <a:schemeClr val="tx2">
                    <a:lumMod val="75000"/>
                  </a:schemeClr>
                </a:solidFill>
                <a:latin typeface="Arial Black" panose="020B0A04020102020204" pitchFamily="34" charset="0"/>
              </a:rPr>
              <a:t>XGBoost</a:t>
            </a:r>
            <a:endParaRPr lang="en-IN" sz="3600" b="1" dirty="0">
              <a:solidFill>
                <a:schemeClr val="tx2">
                  <a:lumMod val="75000"/>
                </a:schemeClr>
              </a:solidFill>
              <a:latin typeface="Arial Black" panose="020B0A04020102020204" pitchFamily="34" charset="0"/>
            </a:endParaRPr>
          </a:p>
        </p:txBody>
      </p:sp>
      <p:pic>
        <p:nvPicPr>
          <p:cNvPr id="7" name="Picture 6">
            <a:extLst>
              <a:ext uri="{FF2B5EF4-FFF2-40B4-BE49-F238E27FC236}">
                <a16:creationId xmlns:a16="http://schemas.microsoft.com/office/drawing/2014/main" id="{C1A42A10-99F7-0221-C0B3-1D92BED30B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090056"/>
            <a:ext cx="5371905" cy="4092083"/>
          </a:xfrm>
          <a:prstGeom prst="rect">
            <a:avLst/>
          </a:prstGeom>
        </p:spPr>
      </p:pic>
      <p:pic>
        <p:nvPicPr>
          <p:cNvPr id="15" name="Picture 14">
            <a:extLst>
              <a:ext uri="{FF2B5EF4-FFF2-40B4-BE49-F238E27FC236}">
                <a16:creationId xmlns:a16="http://schemas.microsoft.com/office/drawing/2014/main" id="{F46CCEE0-8367-F00B-3686-2EC9751EFA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788" y="1868845"/>
            <a:ext cx="5851676" cy="4388757"/>
          </a:xfrm>
          <a:prstGeom prst="rect">
            <a:avLst/>
          </a:prstGeom>
        </p:spPr>
      </p:pic>
    </p:spTree>
    <p:extLst>
      <p:ext uri="{BB962C8B-B14F-4D97-AF65-F5344CB8AC3E}">
        <p14:creationId xmlns:p14="http://schemas.microsoft.com/office/powerpoint/2010/main" val="2950129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407B9-ED79-89B8-1AE7-21C5D3BF4AF7}"/>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169DD87-3EBE-44CA-9654-8AE0466B2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1123121" y="1202635"/>
            <a:ext cx="909316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614B3280-8800-F818-0749-64E82FC45B82}"/>
              </a:ext>
            </a:extLst>
          </p:cNvPr>
          <p:cNvPicPr>
            <a:picLocks noChangeAspect="1"/>
          </p:cNvPicPr>
          <p:nvPr/>
        </p:nvPicPr>
        <p:blipFill>
          <a:blip r:embed="rId2"/>
          <a:srcRect l="5198" r="-2" b="-2"/>
          <a:stretch>
            <a:fillRect/>
          </a:stretch>
        </p:blipFill>
        <p:spPr>
          <a:xfrm>
            <a:off x="543987" y="984768"/>
            <a:ext cx="5503326" cy="2655396"/>
          </a:xfrm>
          <a:prstGeom prst="rect">
            <a:avLst/>
          </a:prstGeom>
        </p:spPr>
      </p:pic>
      <p:pic>
        <p:nvPicPr>
          <p:cNvPr id="7" name="Picture 6">
            <a:extLst>
              <a:ext uri="{FF2B5EF4-FFF2-40B4-BE49-F238E27FC236}">
                <a16:creationId xmlns:a16="http://schemas.microsoft.com/office/drawing/2014/main" id="{54C6FD6F-7DA0-B393-F454-376FD5DFD069}"/>
              </a:ext>
            </a:extLst>
          </p:cNvPr>
          <p:cNvPicPr>
            <a:picLocks noChangeAspect="1"/>
          </p:cNvPicPr>
          <p:nvPr/>
        </p:nvPicPr>
        <p:blipFill>
          <a:blip r:embed="rId3"/>
          <a:srcRect l="10448" r="518"/>
          <a:stretch>
            <a:fillRect/>
          </a:stretch>
        </p:blipFill>
        <p:spPr>
          <a:xfrm>
            <a:off x="6376338" y="984768"/>
            <a:ext cx="5500924" cy="2655396"/>
          </a:xfrm>
          <a:prstGeom prst="rect">
            <a:avLst/>
          </a:prstGeom>
        </p:spPr>
      </p:pic>
      <p:pic>
        <p:nvPicPr>
          <p:cNvPr id="5" name="Picture 4">
            <a:extLst>
              <a:ext uri="{FF2B5EF4-FFF2-40B4-BE49-F238E27FC236}">
                <a16:creationId xmlns:a16="http://schemas.microsoft.com/office/drawing/2014/main" id="{474A88C6-C58B-F50E-57F8-2E6D1A098645}"/>
              </a:ext>
            </a:extLst>
          </p:cNvPr>
          <p:cNvPicPr>
            <a:picLocks noChangeAspect="1"/>
          </p:cNvPicPr>
          <p:nvPr/>
        </p:nvPicPr>
        <p:blipFill>
          <a:blip r:embed="rId4"/>
          <a:srcRect l="4000" r="1509" b="-1"/>
          <a:stretch>
            <a:fillRect/>
          </a:stretch>
        </p:blipFill>
        <p:spPr>
          <a:xfrm>
            <a:off x="626165" y="3778763"/>
            <a:ext cx="5275809" cy="2582697"/>
          </a:xfrm>
          <a:prstGeom prst="rect">
            <a:avLst/>
          </a:prstGeom>
        </p:spPr>
      </p:pic>
      <p:pic>
        <p:nvPicPr>
          <p:cNvPr id="9" name="Picture 8">
            <a:extLst>
              <a:ext uri="{FF2B5EF4-FFF2-40B4-BE49-F238E27FC236}">
                <a16:creationId xmlns:a16="http://schemas.microsoft.com/office/drawing/2014/main" id="{B2711772-699C-8D3D-DF01-951DC9BF2B11}"/>
              </a:ext>
            </a:extLst>
          </p:cNvPr>
          <p:cNvPicPr>
            <a:picLocks noChangeAspect="1"/>
          </p:cNvPicPr>
          <p:nvPr/>
        </p:nvPicPr>
        <p:blipFill>
          <a:blip r:embed="rId5"/>
          <a:srcRect r="5550" b="-1"/>
          <a:stretch>
            <a:fillRect/>
          </a:stretch>
        </p:blipFill>
        <p:spPr>
          <a:xfrm>
            <a:off x="6290027" y="3640164"/>
            <a:ext cx="5587235" cy="2705971"/>
          </a:xfrm>
          <a:prstGeom prst="rect">
            <a:avLst/>
          </a:prstGeom>
        </p:spPr>
      </p:pic>
      <p:sp>
        <p:nvSpPr>
          <p:cNvPr id="2" name="TextBox 1">
            <a:extLst>
              <a:ext uri="{FF2B5EF4-FFF2-40B4-BE49-F238E27FC236}">
                <a16:creationId xmlns:a16="http://schemas.microsoft.com/office/drawing/2014/main" id="{CB582069-916D-43CA-B5F9-FA204B5C4D32}"/>
              </a:ext>
            </a:extLst>
          </p:cNvPr>
          <p:cNvSpPr txBox="1"/>
          <p:nvPr/>
        </p:nvSpPr>
        <p:spPr>
          <a:xfrm>
            <a:off x="3429000" y="168965"/>
            <a:ext cx="5685183" cy="646331"/>
          </a:xfrm>
          <a:prstGeom prst="rect">
            <a:avLst/>
          </a:prstGeom>
          <a:noFill/>
        </p:spPr>
        <p:txBody>
          <a:bodyPr wrap="square" rtlCol="0">
            <a:spAutoFit/>
          </a:bodyPr>
          <a:lstStyle/>
          <a:p>
            <a:pPr algn="ctr"/>
            <a:r>
              <a:rPr lang="en-IN" sz="3600" dirty="0">
                <a:solidFill>
                  <a:schemeClr val="tx2">
                    <a:lumMod val="75000"/>
                  </a:schemeClr>
                </a:solidFill>
                <a:latin typeface="Arial Black" panose="020B0A04020102020204" pitchFamily="34" charset="0"/>
              </a:rPr>
              <a:t>Results</a:t>
            </a:r>
          </a:p>
        </p:txBody>
      </p:sp>
    </p:spTree>
    <p:extLst>
      <p:ext uri="{BB962C8B-B14F-4D97-AF65-F5344CB8AC3E}">
        <p14:creationId xmlns:p14="http://schemas.microsoft.com/office/powerpoint/2010/main" val="1067754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81E3A-8788-225D-FAE2-4CB00C52C1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8E1E77-9276-BED6-F1B6-45272EA57D8D}"/>
              </a:ext>
            </a:extLst>
          </p:cNvPr>
          <p:cNvSpPr txBox="1"/>
          <p:nvPr/>
        </p:nvSpPr>
        <p:spPr>
          <a:xfrm>
            <a:off x="3826565" y="109330"/>
            <a:ext cx="4244009" cy="646331"/>
          </a:xfrm>
          <a:prstGeom prst="rect">
            <a:avLst/>
          </a:prstGeom>
          <a:noFill/>
        </p:spPr>
        <p:txBody>
          <a:bodyPr wrap="square" rtlCol="0">
            <a:spAutoFit/>
          </a:bodyPr>
          <a:lstStyle/>
          <a:p>
            <a:r>
              <a:rPr lang="en-IN" sz="3600" b="1" dirty="0">
                <a:solidFill>
                  <a:schemeClr val="tx2">
                    <a:lumMod val="75000"/>
                  </a:schemeClr>
                </a:solidFill>
                <a:latin typeface="Arial Black" panose="020B0A04020102020204" pitchFamily="34" charset="0"/>
              </a:rPr>
              <a:t>Test Case 1</a:t>
            </a:r>
          </a:p>
        </p:txBody>
      </p:sp>
      <p:pic>
        <p:nvPicPr>
          <p:cNvPr id="7" name="Picture 6">
            <a:extLst>
              <a:ext uri="{FF2B5EF4-FFF2-40B4-BE49-F238E27FC236}">
                <a16:creationId xmlns:a16="http://schemas.microsoft.com/office/drawing/2014/main" id="{8BCD00EA-C6DA-66C0-B0D1-650B32F94577}"/>
              </a:ext>
            </a:extLst>
          </p:cNvPr>
          <p:cNvPicPr>
            <a:picLocks noChangeAspect="1"/>
          </p:cNvPicPr>
          <p:nvPr/>
        </p:nvPicPr>
        <p:blipFill>
          <a:blip r:embed="rId2"/>
          <a:stretch>
            <a:fillRect/>
          </a:stretch>
        </p:blipFill>
        <p:spPr>
          <a:xfrm>
            <a:off x="786848" y="1156238"/>
            <a:ext cx="10432774" cy="4965364"/>
          </a:xfrm>
          <a:prstGeom prst="rect">
            <a:avLst/>
          </a:prstGeom>
        </p:spPr>
      </p:pic>
    </p:spTree>
    <p:extLst>
      <p:ext uri="{BB962C8B-B14F-4D97-AF65-F5344CB8AC3E}">
        <p14:creationId xmlns:p14="http://schemas.microsoft.com/office/powerpoint/2010/main" val="2722298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1D07F-424A-2774-FBC9-10558F19FE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D70282F-5D7E-0073-B665-21C29369DC70}"/>
              </a:ext>
            </a:extLst>
          </p:cNvPr>
          <p:cNvSpPr txBox="1"/>
          <p:nvPr/>
        </p:nvSpPr>
        <p:spPr>
          <a:xfrm>
            <a:off x="3826564" y="109330"/>
            <a:ext cx="7722705" cy="646331"/>
          </a:xfrm>
          <a:prstGeom prst="rect">
            <a:avLst/>
          </a:prstGeom>
          <a:noFill/>
        </p:spPr>
        <p:txBody>
          <a:bodyPr wrap="square" rtlCol="0">
            <a:spAutoFit/>
          </a:bodyPr>
          <a:lstStyle/>
          <a:p>
            <a:r>
              <a:rPr lang="en-IN" sz="3600" b="1" dirty="0">
                <a:solidFill>
                  <a:schemeClr val="tx2">
                    <a:lumMod val="75000"/>
                  </a:schemeClr>
                </a:solidFill>
                <a:latin typeface="Arial Black" panose="020B0A04020102020204" pitchFamily="34" charset="0"/>
              </a:rPr>
              <a:t>Test Case 1 </a:t>
            </a:r>
            <a:r>
              <a:rPr lang="en-IN" sz="1200" b="1" dirty="0">
                <a:solidFill>
                  <a:schemeClr val="tx2">
                    <a:lumMod val="75000"/>
                  </a:schemeClr>
                </a:solidFill>
                <a:latin typeface="Arial Black" panose="020B0A04020102020204" pitchFamily="34" charset="0"/>
              </a:rPr>
              <a:t>(improved)</a:t>
            </a:r>
          </a:p>
        </p:txBody>
      </p:sp>
      <p:pic>
        <p:nvPicPr>
          <p:cNvPr id="5" name="Picture 4">
            <a:extLst>
              <a:ext uri="{FF2B5EF4-FFF2-40B4-BE49-F238E27FC236}">
                <a16:creationId xmlns:a16="http://schemas.microsoft.com/office/drawing/2014/main" id="{6FFE473B-852A-7AA6-6E9E-43F2CE4A081F}"/>
              </a:ext>
            </a:extLst>
          </p:cNvPr>
          <p:cNvPicPr>
            <a:picLocks noChangeAspect="1"/>
          </p:cNvPicPr>
          <p:nvPr/>
        </p:nvPicPr>
        <p:blipFill>
          <a:blip r:embed="rId2"/>
          <a:stretch>
            <a:fillRect/>
          </a:stretch>
        </p:blipFill>
        <p:spPr>
          <a:xfrm>
            <a:off x="1046922" y="1168490"/>
            <a:ext cx="10502347" cy="5174626"/>
          </a:xfrm>
          <a:prstGeom prst="rect">
            <a:avLst/>
          </a:prstGeom>
        </p:spPr>
      </p:pic>
    </p:spTree>
    <p:extLst>
      <p:ext uri="{BB962C8B-B14F-4D97-AF65-F5344CB8AC3E}">
        <p14:creationId xmlns:p14="http://schemas.microsoft.com/office/powerpoint/2010/main" val="2759980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C5D20-0036-56F0-AEC6-58910D2AC7C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E34ADC7-ADD6-09C7-A83A-30C8EE8E69F1}"/>
              </a:ext>
            </a:extLst>
          </p:cNvPr>
          <p:cNvPicPr>
            <a:picLocks noChangeAspect="1"/>
          </p:cNvPicPr>
          <p:nvPr/>
        </p:nvPicPr>
        <p:blipFill>
          <a:blip r:embed="rId2"/>
          <a:stretch>
            <a:fillRect/>
          </a:stretch>
        </p:blipFill>
        <p:spPr>
          <a:xfrm>
            <a:off x="576469" y="1172817"/>
            <a:ext cx="10982739" cy="5158409"/>
          </a:xfrm>
          <a:prstGeom prst="rect">
            <a:avLst/>
          </a:prstGeom>
        </p:spPr>
      </p:pic>
      <p:sp>
        <p:nvSpPr>
          <p:cNvPr id="3" name="TextBox 2">
            <a:extLst>
              <a:ext uri="{FF2B5EF4-FFF2-40B4-BE49-F238E27FC236}">
                <a16:creationId xmlns:a16="http://schemas.microsoft.com/office/drawing/2014/main" id="{8149161E-BCEB-A40C-A0AB-9B44FB478AA8}"/>
              </a:ext>
            </a:extLst>
          </p:cNvPr>
          <p:cNvSpPr txBox="1"/>
          <p:nvPr/>
        </p:nvSpPr>
        <p:spPr>
          <a:xfrm>
            <a:off x="3826565" y="109330"/>
            <a:ext cx="4244009" cy="646331"/>
          </a:xfrm>
          <a:prstGeom prst="rect">
            <a:avLst/>
          </a:prstGeom>
          <a:noFill/>
        </p:spPr>
        <p:txBody>
          <a:bodyPr wrap="square" rtlCol="0">
            <a:spAutoFit/>
          </a:bodyPr>
          <a:lstStyle/>
          <a:p>
            <a:r>
              <a:rPr lang="en-IN" sz="3600" b="1" dirty="0">
                <a:solidFill>
                  <a:schemeClr val="tx2">
                    <a:lumMod val="75000"/>
                  </a:schemeClr>
                </a:solidFill>
                <a:latin typeface="Arial Black" panose="020B0A04020102020204" pitchFamily="34" charset="0"/>
              </a:rPr>
              <a:t>Test Case 2</a:t>
            </a:r>
          </a:p>
        </p:txBody>
      </p:sp>
    </p:spTree>
    <p:extLst>
      <p:ext uri="{BB962C8B-B14F-4D97-AF65-F5344CB8AC3E}">
        <p14:creationId xmlns:p14="http://schemas.microsoft.com/office/powerpoint/2010/main" val="1059639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F36D8-95A0-C611-6244-3B4A061BB0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88EEEB-7B76-5F2B-705E-A98BF7E9FE98}"/>
              </a:ext>
            </a:extLst>
          </p:cNvPr>
          <p:cNvSpPr txBox="1"/>
          <p:nvPr/>
        </p:nvSpPr>
        <p:spPr>
          <a:xfrm>
            <a:off x="3826564" y="109330"/>
            <a:ext cx="7722705" cy="646331"/>
          </a:xfrm>
          <a:prstGeom prst="rect">
            <a:avLst/>
          </a:prstGeom>
          <a:noFill/>
        </p:spPr>
        <p:txBody>
          <a:bodyPr wrap="square" rtlCol="0">
            <a:spAutoFit/>
          </a:bodyPr>
          <a:lstStyle/>
          <a:p>
            <a:r>
              <a:rPr lang="en-IN" sz="3600" b="1" dirty="0">
                <a:solidFill>
                  <a:schemeClr val="tx2">
                    <a:lumMod val="75000"/>
                  </a:schemeClr>
                </a:solidFill>
                <a:latin typeface="Arial Black" panose="020B0A04020102020204" pitchFamily="34" charset="0"/>
              </a:rPr>
              <a:t>Test Case 2 </a:t>
            </a:r>
            <a:r>
              <a:rPr lang="en-IN" sz="1200" b="1" dirty="0">
                <a:solidFill>
                  <a:schemeClr val="tx2">
                    <a:lumMod val="75000"/>
                  </a:schemeClr>
                </a:solidFill>
                <a:latin typeface="Arial Black" panose="020B0A04020102020204" pitchFamily="34" charset="0"/>
              </a:rPr>
              <a:t>(improved)</a:t>
            </a:r>
          </a:p>
        </p:txBody>
      </p:sp>
      <p:pic>
        <p:nvPicPr>
          <p:cNvPr id="4" name="Picture 3">
            <a:extLst>
              <a:ext uri="{FF2B5EF4-FFF2-40B4-BE49-F238E27FC236}">
                <a16:creationId xmlns:a16="http://schemas.microsoft.com/office/drawing/2014/main" id="{BB5953EC-9756-81F3-F5D0-DE780A64D87D}"/>
              </a:ext>
            </a:extLst>
          </p:cNvPr>
          <p:cNvPicPr>
            <a:picLocks noChangeAspect="1"/>
          </p:cNvPicPr>
          <p:nvPr/>
        </p:nvPicPr>
        <p:blipFill>
          <a:blip r:embed="rId2"/>
          <a:stretch>
            <a:fillRect/>
          </a:stretch>
        </p:blipFill>
        <p:spPr>
          <a:xfrm>
            <a:off x="387626" y="1312416"/>
            <a:ext cx="11416748" cy="4840131"/>
          </a:xfrm>
          <a:prstGeom prst="rect">
            <a:avLst/>
          </a:prstGeom>
        </p:spPr>
      </p:pic>
    </p:spTree>
    <p:extLst>
      <p:ext uri="{BB962C8B-B14F-4D97-AF65-F5344CB8AC3E}">
        <p14:creationId xmlns:p14="http://schemas.microsoft.com/office/powerpoint/2010/main" val="2022827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7D917-9E63-60D0-A8B8-3D5ACB6180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72960E-E9A7-6837-DAC6-1B76287F7B79}"/>
              </a:ext>
            </a:extLst>
          </p:cNvPr>
          <p:cNvSpPr txBox="1"/>
          <p:nvPr/>
        </p:nvSpPr>
        <p:spPr>
          <a:xfrm>
            <a:off x="3826564" y="109330"/>
            <a:ext cx="7722705" cy="646331"/>
          </a:xfrm>
          <a:prstGeom prst="rect">
            <a:avLst/>
          </a:prstGeom>
          <a:noFill/>
        </p:spPr>
        <p:txBody>
          <a:bodyPr wrap="square" rtlCol="0">
            <a:spAutoFit/>
          </a:bodyPr>
          <a:lstStyle/>
          <a:p>
            <a:r>
              <a:rPr lang="en-IN" sz="3600" b="1" dirty="0">
                <a:solidFill>
                  <a:schemeClr val="tx2">
                    <a:lumMod val="75000"/>
                  </a:schemeClr>
                </a:solidFill>
                <a:latin typeface="Arial Black" panose="020B0A04020102020204" pitchFamily="34" charset="0"/>
              </a:rPr>
              <a:t>Test Case 3</a:t>
            </a:r>
            <a:endParaRPr lang="en-IN" sz="1200" b="1" dirty="0">
              <a:solidFill>
                <a:schemeClr val="tx2">
                  <a:lumMod val="75000"/>
                </a:schemeClr>
              </a:solidFill>
              <a:latin typeface="Arial Black" panose="020B0A04020102020204" pitchFamily="34" charset="0"/>
            </a:endParaRPr>
          </a:p>
        </p:txBody>
      </p:sp>
      <p:pic>
        <p:nvPicPr>
          <p:cNvPr id="3" name="Picture 2">
            <a:extLst>
              <a:ext uri="{FF2B5EF4-FFF2-40B4-BE49-F238E27FC236}">
                <a16:creationId xmlns:a16="http://schemas.microsoft.com/office/drawing/2014/main" id="{DB5ED2B4-6AEB-B9F4-3291-456DA8F54F69}"/>
              </a:ext>
            </a:extLst>
          </p:cNvPr>
          <p:cNvPicPr>
            <a:picLocks noChangeAspect="1"/>
          </p:cNvPicPr>
          <p:nvPr/>
        </p:nvPicPr>
        <p:blipFill>
          <a:blip r:embed="rId2"/>
          <a:stretch>
            <a:fillRect/>
          </a:stretch>
        </p:blipFill>
        <p:spPr>
          <a:xfrm>
            <a:off x="654147" y="1201916"/>
            <a:ext cx="10447862" cy="4993106"/>
          </a:xfrm>
          <a:prstGeom prst="rect">
            <a:avLst/>
          </a:prstGeom>
        </p:spPr>
      </p:pic>
    </p:spTree>
    <p:extLst>
      <p:ext uri="{BB962C8B-B14F-4D97-AF65-F5344CB8AC3E}">
        <p14:creationId xmlns:p14="http://schemas.microsoft.com/office/powerpoint/2010/main" val="2210335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496D0-00CD-D556-AD43-C907FD01A2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1F0CA5-B171-2ADF-1890-6019467A333E}"/>
              </a:ext>
            </a:extLst>
          </p:cNvPr>
          <p:cNvSpPr txBox="1"/>
          <p:nvPr/>
        </p:nvSpPr>
        <p:spPr>
          <a:xfrm>
            <a:off x="3826564" y="109330"/>
            <a:ext cx="7722705" cy="646331"/>
          </a:xfrm>
          <a:prstGeom prst="rect">
            <a:avLst/>
          </a:prstGeom>
          <a:noFill/>
        </p:spPr>
        <p:txBody>
          <a:bodyPr wrap="square" rtlCol="0">
            <a:spAutoFit/>
          </a:bodyPr>
          <a:lstStyle/>
          <a:p>
            <a:r>
              <a:rPr lang="en-IN" sz="3600" b="1" dirty="0">
                <a:solidFill>
                  <a:schemeClr val="tx2">
                    <a:lumMod val="75000"/>
                  </a:schemeClr>
                </a:solidFill>
                <a:latin typeface="Arial Black" panose="020B0A04020102020204" pitchFamily="34" charset="0"/>
              </a:rPr>
              <a:t>Test Case 3 </a:t>
            </a:r>
            <a:r>
              <a:rPr lang="en-IN" sz="1200" b="1" dirty="0">
                <a:solidFill>
                  <a:schemeClr val="tx2">
                    <a:lumMod val="75000"/>
                  </a:schemeClr>
                </a:solidFill>
                <a:latin typeface="Arial Black" panose="020B0A04020102020204" pitchFamily="34" charset="0"/>
              </a:rPr>
              <a:t>(improved)</a:t>
            </a:r>
          </a:p>
        </p:txBody>
      </p:sp>
      <p:pic>
        <p:nvPicPr>
          <p:cNvPr id="7" name="Picture 6">
            <a:extLst>
              <a:ext uri="{FF2B5EF4-FFF2-40B4-BE49-F238E27FC236}">
                <a16:creationId xmlns:a16="http://schemas.microsoft.com/office/drawing/2014/main" id="{3F1ED7F7-F00F-B343-465F-25553AB1BA82}"/>
              </a:ext>
            </a:extLst>
          </p:cNvPr>
          <p:cNvPicPr>
            <a:picLocks noChangeAspect="1"/>
          </p:cNvPicPr>
          <p:nvPr/>
        </p:nvPicPr>
        <p:blipFill>
          <a:blip r:embed="rId2"/>
          <a:stretch>
            <a:fillRect/>
          </a:stretch>
        </p:blipFill>
        <p:spPr>
          <a:xfrm>
            <a:off x="392595" y="1233535"/>
            <a:ext cx="11406809" cy="4971697"/>
          </a:xfrm>
          <a:prstGeom prst="rect">
            <a:avLst/>
          </a:prstGeom>
        </p:spPr>
      </p:pic>
    </p:spTree>
    <p:extLst>
      <p:ext uri="{BB962C8B-B14F-4D97-AF65-F5344CB8AC3E}">
        <p14:creationId xmlns:p14="http://schemas.microsoft.com/office/powerpoint/2010/main" val="2189662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5B8C-98B6-DC93-EF4E-B169BB582E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B80260-B7A2-CC4A-34FF-3078801BB732}"/>
              </a:ext>
            </a:extLst>
          </p:cNvPr>
          <p:cNvSpPr txBox="1"/>
          <p:nvPr/>
        </p:nvSpPr>
        <p:spPr>
          <a:xfrm>
            <a:off x="3826564" y="109330"/>
            <a:ext cx="7722705" cy="646331"/>
          </a:xfrm>
          <a:prstGeom prst="rect">
            <a:avLst/>
          </a:prstGeom>
          <a:noFill/>
        </p:spPr>
        <p:txBody>
          <a:bodyPr wrap="square" rtlCol="0">
            <a:spAutoFit/>
          </a:bodyPr>
          <a:lstStyle/>
          <a:p>
            <a:r>
              <a:rPr lang="en-IN" sz="3600" b="1" dirty="0">
                <a:solidFill>
                  <a:schemeClr val="tx2">
                    <a:lumMod val="75000"/>
                  </a:schemeClr>
                </a:solidFill>
                <a:latin typeface="Arial Black" panose="020B0A04020102020204" pitchFamily="34" charset="0"/>
              </a:rPr>
              <a:t>Test Case 4</a:t>
            </a:r>
            <a:endParaRPr lang="en-IN" sz="1200" b="1" dirty="0">
              <a:solidFill>
                <a:schemeClr val="tx2">
                  <a:lumMod val="75000"/>
                </a:schemeClr>
              </a:solidFill>
              <a:latin typeface="Arial Black" panose="020B0A04020102020204" pitchFamily="34" charset="0"/>
            </a:endParaRPr>
          </a:p>
        </p:txBody>
      </p:sp>
      <p:pic>
        <p:nvPicPr>
          <p:cNvPr id="5" name="Picture 4">
            <a:extLst>
              <a:ext uri="{FF2B5EF4-FFF2-40B4-BE49-F238E27FC236}">
                <a16:creationId xmlns:a16="http://schemas.microsoft.com/office/drawing/2014/main" id="{3F27ED82-0F1E-5DA7-4FD8-2873B4EB8D6C}"/>
              </a:ext>
            </a:extLst>
          </p:cNvPr>
          <p:cNvPicPr>
            <a:picLocks noChangeAspect="1"/>
          </p:cNvPicPr>
          <p:nvPr/>
        </p:nvPicPr>
        <p:blipFill>
          <a:blip r:embed="rId2"/>
          <a:stretch>
            <a:fillRect/>
          </a:stretch>
        </p:blipFill>
        <p:spPr>
          <a:xfrm>
            <a:off x="437321" y="1073426"/>
            <a:ext cx="11486322" cy="4965285"/>
          </a:xfrm>
          <a:prstGeom prst="rect">
            <a:avLst/>
          </a:prstGeom>
        </p:spPr>
      </p:pic>
    </p:spTree>
    <p:extLst>
      <p:ext uri="{BB962C8B-B14F-4D97-AF65-F5344CB8AC3E}">
        <p14:creationId xmlns:p14="http://schemas.microsoft.com/office/powerpoint/2010/main" val="561067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1EC9B-5EF2-9B12-2106-86E27E288C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9E15DF7-F0A2-2727-C938-2CA710221C9A}"/>
              </a:ext>
            </a:extLst>
          </p:cNvPr>
          <p:cNvSpPr txBox="1"/>
          <p:nvPr/>
        </p:nvSpPr>
        <p:spPr>
          <a:xfrm>
            <a:off x="3826564" y="109330"/>
            <a:ext cx="7722705" cy="646331"/>
          </a:xfrm>
          <a:prstGeom prst="rect">
            <a:avLst/>
          </a:prstGeom>
          <a:noFill/>
        </p:spPr>
        <p:txBody>
          <a:bodyPr wrap="square" rtlCol="0">
            <a:spAutoFit/>
          </a:bodyPr>
          <a:lstStyle/>
          <a:p>
            <a:r>
              <a:rPr lang="en-IN" sz="3600" b="1" dirty="0">
                <a:solidFill>
                  <a:schemeClr val="tx2">
                    <a:lumMod val="75000"/>
                  </a:schemeClr>
                </a:solidFill>
                <a:latin typeface="Arial Black" panose="020B0A04020102020204" pitchFamily="34" charset="0"/>
              </a:rPr>
              <a:t>Test Case 4 </a:t>
            </a:r>
            <a:r>
              <a:rPr lang="en-IN" sz="1200" b="1" dirty="0">
                <a:solidFill>
                  <a:schemeClr val="tx2">
                    <a:lumMod val="75000"/>
                  </a:schemeClr>
                </a:solidFill>
                <a:latin typeface="Arial Black" panose="020B0A04020102020204" pitchFamily="34" charset="0"/>
              </a:rPr>
              <a:t>(improved)</a:t>
            </a:r>
          </a:p>
        </p:txBody>
      </p:sp>
      <p:pic>
        <p:nvPicPr>
          <p:cNvPr id="4" name="Picture 3">
            <a:extLst>
              <a:ext uri="{FF2B5EF4-FFF2-40B4-BE49-F238E27FC236}">
                <a16:creationId xmlns:a16="http://schemas.microsoft.com/office/drawing/2014/main" id="{FA52861B-46F0-04E2-639C-1BFF42F18CB7}"/>
              </a:ext>
            </a:extLst>
          </p:cNvPr>
          <p:cNvPicPr>
            <a:picLocks noChangeAspect="1"/>
          </p:cNvPicPr>
          <p:nvPr/>
        </p:nvPicPr>
        <p:blipFill>
          <a:blip r:embed="rId2"/>
          <a:stretch>
            <a:fillRect/>
          </a:stretch>
        </p:blipFill>
        <p:spPr>
          <a:xfrm>
            <a:off x="705678" y="1361660"/>
            <a:ext cx="11161644" cy="4581940"/>
          </a:xfrm>
          <a:prstGeom prst="rect">
            <a:avLst/>
          </a:prstGeom>
        </p:spPr>
      </p:pic>
    </p:spTree>
    <p:extLst>
      <p:ext uri="{BB962C8B-B14F-4D97-AF65-F5344CB8AC3E}">
        <p14:creationId xmlns:p14="http://schemas.microsoft.com/office/powerpoint/2010/main" val="2807283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0F12A-A9B5-DEF7-6C78-96D7F0511C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920D7C-A6D4-D879-20F3-47717B69489B}"/>
              </a:ext>
            </a:extLst>
          </p:cNvPr>
          <p:cNvSpPr txBox="1"/>
          <p:nvPr/>
        </p:nvSpPr>
        <p:spPr>
          <a:xfrm>
            <a:off x="3826564" y="109330"/>
            <a:ext cx="7722705" cy="646331"/>
          </a:xfrm>
          <a:prstGeom prst="rect">
            <a:avLst/>
          </a:prstGeom>
          <a:noFill/>
        </p:spPr>
        <p:txBody>
          <a:bodyPr wrap="square" rtlCol="0">
            <a:spAutoFit/>
          </a:bodyPr>
          <a:lstStyle/>
          <a:p>
            <a:r>
              <a:rPr lang="en-IN" sz="3600" b="1" dirty="0">
                <a:solidFill>
                  <a:schemeClr val="tx2">
                    <a:lumMod val="75000"/>
                  </a:schemeClr>
                </a:solidFill>
                <a:latin typeface="Arial Black" panose="020B0A04020102020204" pitchFamily="34" charset="0"/>
              </a:rPr>
              <a:t>Conclusions</a:t>
            </a:r>
            <a:endParaRPr lang="en-IN" sz="1200" b="1" dirty="0">
              <a:solidFill>
                <a:schemeClr val="tx2">
                  <a:lumMod val="75000"/>
                </a:schemeClr>
              </a:solidFill>
              <a:latin typeface="Arial Black" panose="020B0A04020102020204" pitchFamily="34" charset="0"/>
            </a:endParaRPr>
          </a:p>
        </p:txBody>
      </p:sp>
      <p:sp>
        <p:nvSpPr>
          <p:cNvPr id="3" name="TextBox 2">
            <a:extLst>
              <a:ext uri="{FF2B5EF4-FFF2-40B4-BE49-F238E27FC236}">
                <a16:creationId xmlns:a16="http://schemas.microsoft.com/office/drawing/2014/main" id="{A4748111-73DE-BF38-E99B-833C8F65890A}"/>
              </a:ext>
            </a:extLst>
          </p:cNvPr>
          <p:cNvSpPr txBox="1"/>
          <p:nvPr/>
        </p:nvSpPr>
        <p:spPr>
          <a:xfrm>
            <a:off x="854765" y="1381539"/>
            <a:ext cx="11022496" cy="3693319"/>
          </a:xfrm>
          <a:prstGeom prst="rect">
            <a:avLst/>
          </a:prstGeom>
          <a:noFill/>
        </p:spPr>
        <p:txBody>
          <a:bodyPr wrap="square" rtlCol="0">
            <a:spAutoFit/>
          </a:bodyPr>
          <a:lstStyle/>
          <a:p>
            <a:pPr marL="285750" indent="-285750">
              <a:buFont typeface="Wingdings" panose="05000000000000000000" pitchFamily="2" charset="2"/>
              <a:buChar char="Ø"/>
            </a:pPr>
            <a:r>
              <a:rPr lang="en-US" dirty="0"/>
              <a:t>This project successfully developed a phishing website detection system using seven supervised machine learning classifiers trained on the UCI Phishing Websites Dataset (11,055 samples, 30 URL-based features). </a:t>
            </a:r>
          </a:p>
          <a:p>
            <a:pPr marL="285750" indent="-285750">
              <a:buFont typeface="Wingdings" panose="05000000000000000000" pitchFamily="2" charset="2"/>
              <a:buChar char="Ø"/>
            </a:pPr>
            <a:r>
              <a:rPr lang="en-US" dirty="0"/>
              <a:t>All models were evaluated across eight metrics — Accuracy, Precision, Recall, F1-Score, ROC-AUC, Prediction Time, Peak Memory, and Overfitting analysis.</a:t>
            </a:r>
          </a:p>
          <a:p>
            <a:pPr marL="285750" indent="-285750">
              <a:buFont typeface="Wingdings" panose="05000000000000000000" pitchFamily="2" charset="2"/>
              <a:buChar char="Ø"/>
            </a:pPr>
            <a:r>
              <a:rPr lang="en-US" dirty="0"/>
              <a:t> </a:t>
            </a:r>
            <a:r>
              <a:rPr lang="en-US" dirty="0" err="1"/>
              <a:t>XGBoost</a:t>
            </a:r>
            <a:r>
              <a:rPr lang="en-US" dirty="0"/>
              <a:t> emerged as the best model achieving 96.99% accuracy, 98.31% recall, 0.9960 AUC, 51 KB memory usage, and 3ms prediction time — the highest across every metric simultaneously.</a:t>
            </a:r>
          </a:p>
          <a:p>
            <a:pPr marL="285750" indent="-285750">
              <a:buFont typeface="Wingdings" panose="05000000000000000000" pitchFamily="2" charset="2"/>
              <a:buChar char="Ø"/>
            </a:pPr>
            <a:r>
              <a:rPr lang="en-US" dirty="0"/>
              <a:t> The best model was deployed in a </a:t>
            </a:r>
            <a:r>
              <a:rPr lang="en-US" dirty="0" err="1"/>
              <a:t>Streamlit</a:t>
            </a:r>
            <a:r>
              <a:rPr lang="en-US" dirty="0"/>
              <a:t> web application with a three-layer detection pipeline: </a:t>
            </a:r>
            <a:r>
              <a:rPr lang="en-US" dirty="0" err="1"/>
              <a:t>PhishTank</a:t>
            </a:r>
            <a:r>
              <a:rPr lang="en-US" dirty="0"/>
              <a:t> real-time threat intelligence, </a:t>
            </a:r>
            <a:r>
              <a:rPr lang="en-US" dirty="0" err="1"/>
              <a:t>typosquatting</a:t>
            </a:r>
            <a:r>
              <a:rPr lang="en-US" dirty="0"/>
              <a:t> detection using string similarity, and </a:t>
            </a:r>
            <a:r>
              <a:rPr lang="en-US" dirty="0" err="1"/>
              <a:t>XGBoost</a:t>
            </a:r>
            <a:r>
              <a:rPr lang="en-US" dirty="0"/>
              <a:t> ML classification with live 30-feature extraction via URL parsing, DNS lookup, WHOIS query, and HTML fetch. </a:t>
            </a:r>
          </a:p>
          <a:p>
            <a:pPr marL="285750" indent="-285750">
              <a:buFont typeface="Wingdings" panose="05000000000000000000" pitchFamily="2" charset="2"/>
              <a:buChar char="Ø"/>
            </a:pPr>
            <a:r>
              <a:rPr lang="en-US" dirty="0"/>
              <a:t>The system demonstrates that classical ML with well-engineered URL-based features can achieve near state-of-the-art phishing detection without requiring deep learning or heavy computational resources.</a:t>
            </a:r>
            <a:endParaRPr lang="en-IN" dirty="0"/>
          </a:p>
        </p:txBody>
      </p:sp>
    </p:spTree>
    <p:extLst>
      <p:ext uri="{BB962C8B-B14F-4D97-AF65-F5344CB8AC3E}">
        <p14:creationId xmlns:p14="http://schemas.microsoft.com/office/powerpoint/2010/main" val="142220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30379" y="48768"/>
            <a:ext cx="8661621" cy="755904"/>
          </a:xfrm>
          <a:prstGeom prst="rect">
            <a:avLst/>
          </a:prstGeom>
          <a:noFill/>
          <a:ln/>
        </p:spPr>
        <p:txBody>
          <a:bodyPr wrap="square" rtlCol="0" anchor="ctr"/>
          <a:lstStyle/>
          <a:p>
            <a:r>
              <a:rPr lang="en-US" sz="3600" b="1" dirty="0">
                <a:solidFill>
                  <a:srgbClr val="1A3A6B"/>
                </a:solidFill>
                <a:latin typeface="Arial Black" panose="020B0A04020102020204" pitchFamily="34" charset="0"/>
                <a:ea typeface="Calibri" pitchFamily="34" charset="-122"/>
                <a:cs typeface="Calibri" pitchFamily="34" charset="-120"/>
              </a:rPr>
              <a:t>Frameworks, Libraries &amp; Tools</a:t>
            </a:r>
            <a:endParaRPr lang="en-US" sz="3600" dirty="0">
              <a:latin typeface="Arial Black" panose="020B0A04020102020204" pitchFamily="34" charset="0"/>
            </a:endParaRPr>
          </a:p>
        </p:txBody>
      </p:sp>
      <p:sp>
        <p:nvSpPr>
          <p:cNvPr id="3" name="Shape 1"/>
          <p:cNvSpPr/>
          <p:nvPr/>
        </p:nvSpPr>
        <p:spPr>
          <a:xfrm>
            <a:off x="548640" y="1097280"/>
            <a:ext cx="11094720" cy="36576"/>
          </a:xfrm>
          <a:prstGeom prst="rect">
            <a:avLst/>
          </a:prstGeom>
          <a:solidFill>
            <a:srgbClr val="DDE3ED"/>
          </a:solidFill>
          <a:ln w="12700">
            <a:solidFill>
              <a:srgbClr val="DDE3ED"/>
            </a:solidFill>
            <a:prstDash val="solid"/>
          </a:ln>
        </p:spPr>
        <p:txBody>
          <a:bodyPr/>
          <a:lstStyle/>
          <a:p>
            <a:endParaRPr lang="en-IN"/>
          </a:p>
        </p:txBody>
      </p:sp>
      <p:sp>
        <p:nvSpPr>
          <p:cNvPr id="4" name="Shape 2"/>
          <p:cNvSpPr/>
          <p:nvPr/>
        </p:nvSpPr>
        <p:spPr>
          <a:xfrm>
            <a:off x="548640" y="1243584"/>
            <a:ext cx="3596640" cy="2499360"/>
          </a:xfrm>
          <a:prstGeom prst="rect">
            <a:avLst/>
          </a:prstGeom>
          <a:solidFill>
            <a:srgbClr val="F4F7FB"/>
          </a:solidFill>
          <a:ln w="12700">
            <a:solidFill>
              <a:srgbClr val="DDE3ED"/>
            </a:solidFill>
            <a:prstDash val="solid"/>
          </a:ln>
          <a:effectLst>
            <a:outerShdw blurRad="63500" dist="25400" dir="8100000" algn="bl" rotWithShape="0">
              <a:srgbClr val="000000">
                <a:alpha val="8000"/>
              </a:srgbClr>
            </a:outerShdw>
          </a:effectLst>
        </p:spPr>
        <p:txBody>
          <a:bodyPr/>
          <a:lstStyle/>
          <a:p>
            <a:endParaRPr lang="en-IN"/>
          </a:p>
        </p:txBody>
      </p:sp>
      <p:sp>
        <p:nvSpPr>
          <p:cNvPr id="5" name="Shape 3"/>
          <p:cNvSpPr/>
          <p:nvPr/>
        </p:nvSpPr>
        <p:spPr>
          <a:xfrm>
            <a:off x="548640" y="1243584"/>
            <a:ext cx="3596640" cy="463296"/>
          </a:xfrm>
          <a:prstGeom prst="rect">
            <a:avLst/>
          </a:prstGeom>
          <a:solidFill>
            <a:srgbClr val="1E56A0"/>
          </a:solidFill>
          <a:ln w="12700">
            <a:solidFill>
              <a:srgbClr val="1E56A0"/>
            </a:solidFill>
            <a:prstDash val="solid"/>
          </a:ln>
        </p:spPr>
        <p:txBody>
          <a:bodyPr/>
          <a:lstStyle/>
          <a:p>
            <a:endParaRPr lang="en-IN"/>
          </a:p>
        </p:txBody>
      </p:sp>
      <p:sp>
        <p:nvSpPr>
          <p:cNvPr id="6" name="Text 4"/>
          <p:cNvSpPr/>
          <p:nvPr/>
        </p:nvSpPr>
        <p:spPr>
          <a:xfrm>
            <a:off x="731520" y="1243584"/>
            <a:ext cx="3230880" cy="463296"/>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Language &amp; IDE</a:t>
            </a:r>
            <a:endParaRPr lang="en-US" sz="1600" dirty="0"/>
          </a:p>
        </p:txBody>
      </p:sp>
      <p:sp>
        <p:nvSpPr>
          <p:cNvPr id="7" name="Text 5"/>
          <p:cNvSpPr/>
          <p:nvPr/>
        </p:nvSpPr>
        <p:spPr>
          <a:xfrm>
            <a:off x="768096" y="1828800"/>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Python 3.13.2</a:t>
            </a:r>
            <a:endParaRPr lang="en-US" sz="1467" dirty="0"/>
          </a:p>
        </p:txBody>
      </p:sp>
      <p:sp>
        <p:nvSpPr>
          <p:cNvPr id="8" name="Text 6"/>
          <p:cNvSpPr/>
          <p:nvPr/>
        </p:nvSpPr>
        <p:spPr>
          <a:xfrm>
            <a:off x="768096" y="2121408"/>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Primary programming language</a:t>
            </a:r>
            <a:endParaRPr lang="en-US" sz="1267" dirty="0"/>
          </a:p>
        </p:txBody>
      </p:sp>
      <p:sp>
        <p:nvSpPr>
          <p:cNvPr id="9" name="Text 7"/>
          <p:cNvSpPr/>
          <p:nvPr/>
        </p:nvSpPr>
        <p:spPr>
          <a:xfrm>
            <a:off x="768096" y="2462784"/>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Jupyter Notebook</a:t>
            </a:r>
            <a:endParaRPr lang="en-US" sz="1467" dirty="0"/>
          </a:p>
        </p:txBody>
      </p:sp>
      <p:sp>
        <p:nvSpPr>
          <p:cNvPr id="10" name="Text 8"/>
          <p:cNvSpPr/>
          <p:nvPr/>
        </p:nvSpPr>
        <p:spPr>
          <a:xfrm>
            <a:off x="768096" y="2755392"/>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Model training &amp; experimentation</a:t>
            </a:r>
            <a:endParaRPr lang="en-US" sz="1267" dirty="0"/>
          </a:p>
        </p:txBody>
      </p:sp>
      <p:sp>
        <p:nvSpPr>
          <p:cNvPr id="11" name="Text 9"/>
          <p:cNvSpPr/>
          <p:nvPr/>
        </p:nvSpPr>
        <p:spPr>
          <a:xfrm>
            <a:off x="768096" y="3096768"/>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VS Code</a:t>
            </a:r>
            <a:endParaRPr lang="en-US" sz="1467" dirty="0"/>
          </a:p>
        </p:txBody>
      </p:sp>
      <p:sp>
        <p:nvSpPr>
          <p:cNvPr id="12" name="Text 10"/>
          <p:cNvSpPr/>
          <p:nvPr/>
        </p:nvSpPr>
        <p:spPr>
          <a:xfrm>
            <a:off x="768096" y="3389376"/>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Application development</a:t>
            </a:r>
            <a:endParaRPr lang="en-US" sz="1267" dirty="0"/>
          </a:p>
        </p:txBody>
      </p:sp>
      <p:sp>
        <p:nvSpPr>
          <p:cNvPr id="13" name="Shape 11"/>
          <p:cNvSpPr/>
          <p:nvPr/>
        </p:nvSpPr>
        <p:spPr>
          <a:xfrm>
            <a:off x="4297680" y="1243584"/>
            <a:ext cx="3596640" cy="2499360"/>
          </a:xfrm>
          <a:prstGeom prst="rect">
            <a:avLst/>
          </a:prstGeom>
          <a:solidFill>
            <a:srgbClr val="F4F7FB"/>
          </a:solidFill>
          <a:ln w="12700">
            <a:solidFill>
              <a:srgbClr val="DDE3ED"/>
            </a:solidFill>
            <a:prstDash val="solid"/>
          </a:ln>
          <a:effectLst>
            <a:outerShdw blurRad="63500" dist="25400" dir="8100000" algn="bl" rotWithShape="0">
              <a:srgbClr val="000000">
                <a:alpha val="8000"/>
              </a:srgbClr>
            </a:outerShdw>
          </a:effectLst>
        </p:spPr>
        <p:txBody>
          <a:bodyPr/>
          <a:lstStyle/>
          <a:p>
            <a:endParaRPr lang="en-IN"/>
          </a:p>
        </p:txBody>
      </p:sp>
      <p:sp>
        <p:nvSpPr>
          <p:cNvPr id="14" name="Shape 12"/>
          <p:cNvSpPr/>
          <p:nvPr/>
        </p:nvSpPr>
        <p:spPr>
          <a:xfrm>
            <a:off x="4297680" y="1243584"/>
            <a:ext cx="3596640" cy="463296"/>
          </a:xfrm>
          <a:prstGeom prst="rect">
            <a:avLst/>
          </a:prstGeom>
          <a:solidFill>
            <a:srgbClr val="2E7D32"/>
          </a:solidFill>
          <a:ln w="12700">
            <a:solidFill>
              <a:srgbClr val="2E7D32"/>
            </a:solidFill>
            <a:prstDash val="solid"/>
          </a:ln>
        </p:spPr>
        <p:txBody>
          <a:bodyPr/>
          <a:lstStyle/>
          <a:p>
            <a:endParaRPr lang="en-IN"/>
          </a:p>
        </p:txBody>
      </p:sp>
      <p:sp>
        <p:nvSpPr>
          <p:cNvPr id="15" name="Text 13"/>
          <p:cNvSpPr/>
          <p:nvPr/>
        </p:nvSpPr>
        <p:spPr>
          <a:xfrm>
            <a:off x="4480560" y="1243584"/>
            <a:ext cx="3230880" cy="463296"/>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ML &amp; Data Libraries</a:t>
            </a:r>
            <a:endParaRPr lang="en-US" sz="1600" dirty="0"/>
          </a:p>
        </p:txBody>
      </p:sp>
      <p:sp>
        <p:nvSpPr>
          <p:cNvPr id="16" name="Text 14"/>
          <p:cNvSpPr/>
          <p:nvPr/>
        </p:nvSpPr>
        <p:spPr>
          <a:xfrm>
            <a:off x="4517136" y="1828800"/>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scikit-learn</a:t>
            </a:r>
            <a:endParaRPr lang="en-US" sz="1467" dirty="0"/>
          </a:p>
        </p:txBody>
      </p:sp>
      <p:sp>
        <p:nvSpPr>
          <p:cNvPr id="17" name="Text 15"/>
          <p:cNvSpPr/>
          <p:nvPr/>
        </p:nvSpPr>
        <p:spPr>
          <a:xfrm>
            <a:off x="4517136" y="2121408"/>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LR · NB · KNN · DT · RF · SVM</a:t>
            </a:r>
            <a:endParaRPr lang="en-US" sz="1267" dirty="0"/>
          </a:p>
        </p:txBody>
      </p:sp>
      <p:sp>
        <p:nvSpPr>
          <p:cNvPr id="18" name="Text 16"/>
          <p:cNvSpPr/>
          <p:nvPr/>
        </p:nvSpPr>
        <p:spPr>
          <a:xfrm>
            <a:off x="4517136" y="2462784"/>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XGBoost</a:t>
            </a:r>
            <a:endParaRPr lang="en-US" sz="1467" dirty="0"/>
          </a:p>
        </p:txBody>
      </p:sp>
      <p:sp>
        <p:nvSpPr>
          <p:cNvPr id="19" name="Text 17"/>
          <p:cNvSpPr/>
          <p:nvPr/>
        </p:nvSpPr>
        <p:spPr>
          <a:xfrm>
            <a:off x="4517136" y="2755392"/>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Best classifier — 96.99% accuracy</a:t>
            </a:r>
            <a:endParaRPr lang="en-US" sz="1267" dirty="0"/>
          </a:p>
        </p:txBody>
      </p:sp>
      <p:sp>
        <p:nvSpPr>
          <p:cNvPr id="20" name="Text 18"/>
          <p:cNvSpPr/>
          <p:nvPr/>
        </p:nvSpPr>
        <p:spPr>
          <a:xfrm>
            <a:off x="4517136" y="3096768"/>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NumPy / Pandas</a:t>
            </a:r>
            <a:endParaRPr lang="en-US" sz="1467" dirty="0"/>
          </a:p>
        </p:txBody>
      </p:sp>
      <p:sp>
        <p:nvSpPr>
          <p:cNvPr id="21" name="Text 19"/>
          <p:cNvSpPr/>
          <p:nvPr/>
        </p:nvSpPr>
        <p:spPr>
          <a:xfrm>
            <a:off x="4517136" y="3389376"/>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Numerical computing &amp; data handling</a:t>
            </a:r>
            <a:endParaRPr lang="en-US" sz="1267" dirty="0"/>
          </a:p>
        </p:txBody>
      </p:sp>
      <p:sp>
        <p:nvSpPr>
          <p:cNvPr id="22" name="Shape 20"/>
          <p:cNvSpPr/>
          <p:nvPr/>
        </p:nvSpPr>
        <p:spPr>
          <a:xfrm>
            <a:off x="8046720" y="1243584"/>
            <a:ext cx="3596640" cy="2499360"/>
          </a:xfrm>
          <a:prstGeom prst="rect">
            <a:avLst/>
          </a:prstGeom>
          <a:solidFill>
            <a:srgbClr val="F4F7FB"/>
          </a:solidFill>
          <a:ln w="12700">
            <a:solidFill>
              <a:srgbClr val="DDE3ED"/>
            </a:solidFill>
            <a:prstDash val="solid"/>
          </a:ln>
          <a:effectLst>
            <a:outerShdw blurRad="63500" dist="25400" dir="8100000" algn="bl" rotWithShape="0">
              <a:srgbClr val="000000">
                <a:alpha val="8000"/>
              </a:srgbClr>
            </a:outerShdw>
          </a:effectLst>
        </p:spPr>
        <p:txBody>
          <a:bodyPr/>
          <a:lstStyle/>
          <a:p>
            <a:endParaRPr lang="en-IN"/>
          </a:p>
        </p:txBody>
      </p:sp>
      <p:sp>
        <p:nvSpPr>
          <p:cNvPr id="23" name="Shape 21"/>
          <p:cNvSpPr/>
          <p:nvPr/>
        </p:nvSpPr>
        <p:spPr>
          <a:xfrm>
            <a:off x="8046720" y="1243584"/>
            <a:ext cx="3596640" cy="463296"/>
          </a:xfrm>
          <a:prstGeom prst="rect">
            <a:avLst/>
          </a:prstGeom>
          <a:solidFill>
            <a:srgbClr val="E65100"/>
          </a:solidFill>
          <a:ln w="12700">
            <a:solidFill>
              <a:srgbClr val="E65100"/>
            </a:solidFill>
            <a:prstDash val="solid"/>
          </a:ln>
        </p:spPr>
        <p:txBody>
          <a:bodyPr/>
          <a:lstStyle/>
          <a:p>
            <a:endParaRPr lang="en-IN"/>
          </a:p>
        </p:txBody>
      </p:sp>
      <p:sp>
        <p:nvSpPr>
          <p:cNvPr id="24" name="Text 22"/>
          <p:cNvSpPr/>
          <p:nvPr/>
        </p:nvSpPr>
        <p:spPr>
          <a:xfrm>
            <a:off x="8229600" y="1243584"/>
            <a:ext cx="3230880" cy="463296"/>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Web Application</a:t>
            </a:r>
            <a:endParaRPr lang="en-US" sz="1600" dirty="0"/>
          </a:p>
        </p:txBody>
      </p:sp>
      <p:sp>
        <p:nvSpPr>
          <p:cNvPr id="25" name="Text 23"/>
          <p:cNvSpPr/>
          <p:nvPr/>
        </p:nvSpPr>
        <p:spPr>
          <a:xfrm>
            <a:off x="8266176" y="1828800"/>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Streamlit</a:t>
            </a:r>
            <a:endParaRPr lang="en-US" sz="1467" dirty="0"/>
          </a:p>
        </p:txBody>
      </p:sp>
      <p:sp>
        <p:nvSpPr>
          <p:cNvPr id="26" name="Text 24"/>
          <p:cNvSpPr/>
          <p:nvPr/>
        </p:nvSpPr>
        <p:spPr>
          <a:xfrm>
            <a:off x="8266176" y="2121408"/>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Web interface framework</a:t>
            </a:r>
            <a:endParaRPr lang="en-US" sz="1267" dirty="0"/>
          </a:p>
        </p:txBody>
      </p:sp>
      <p:sp>
        <p:nvSpPr>
          <p:cNvPr id="27" name="Text 25"/>
          <p:cNvSpPr/>
          <p:nvPr/>
        </p:nvSpPr>
        <p:spPr>
          <a:xfrm>
            <a:off x="8266176" y="2462784"/>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requests</a:t>
            </a:r>
            <a:endParaRPr lang="en-US" sz="1467" dirty="0"/>
          </a:p>
        </p:txBody>
      </p:sp>
      <p:sp>
        <p:nvSpPr>
          <p:cNvPr id="28" name="Text 26"/>
          <p:cNvSpPr/>
          <p:nvPr/>
        </p:nvSpPr>
        <p:spPr>
          <a:xfrm>
            <a:off x="8266176" y="2755392"/>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Live webpage HTTP fetching</a:t>
            </a:r>
            <a:endParaRPr lang="en-US" sz="1267" dirty="0"/>
          </a:p>
        </p:txBody>
      </p:sp>
      <p:sp>
        <p:nvSpPr>
          <p:cNvPr id="29" name="Text 27"/>
          <p:cNvSpPr/>
          <p:nvPr/>
        </p:nvSpPr>
        <p:spPr>
          <a:xfrm>
            <a:off x="8266176" y="3096768"/>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BeautifulSoup4</a:t>
            </a:r>
            <a:endParaRPr lang="en-US" sz="1467" dirty="0"/>
          </a:p>
        </p:txBody>
      </p:sp>
      <p:sp>
        <p:nvSpPr>
          <p:cNvPr id="30" name="Text 28"/>
          <p:cNvSpPr/>
          <p:nvPr/>
        </p:nvSpPr>
        <p:spPr>
          <a:xfrm>
            <a:off x="8266176" y="3389376"/>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HTML parsing for feature extraction</a:t>
            </a:r>
            <a:endParaRPr lang="en-US" sz="1267" dirty="0"/>
          </a:p>
        </p:txBody>
      </p:sp>
      <p:sp>
        <p:nvSpPr>
          <p:cNvPr id="31" name="Shape 29"/>
          <p:cNvSpPr/>
          <p:nvPr/>
        </p:nvSpPr>
        <p:spPr>
          <a:xfrm>
            <a:off x="548640" y="3889248"/>
            <a:ext cx="3596640" cy="2499360"/>
          </a:xfrm>
          <a:prstGeom prst="rect">
            <a:avLst/>
          </a:prstGeom>
          <a:solidFill>
            <a:srgbClr val="F4F7FB"/>
          </a:solidFill>
          <a:ln w="12700">
            <a:solidFill>
              <a:srgbClr val="DDE3ED"/>
            </a:solidFill>
            <a:prstDash val="solid"/>
          </a:ln>
          <a:effectLst>
            <a:outerShdw blurRad="63500" dist="25400" dir="8100000" algn="bl" rotWithShape="0">
              <a:srgbClr val="000000">
                <a:alpha val="8000"/>
              </a:srgbClr>
            </a:outerShdw>
          </a:effectLst>
        </p:spPr>
        <p:txBody>
          <a:bodyPr/>
          <a:lstStyle/>
          <a:p>
            <a:endParaRPr lang="en-IN"/>
          </a:p>
        </p:txBody>
      </p:sp>
      <p:sp>
        <p:nvSpPr>
          <p:cNvPr id="32" name="Shape 30"/>
          <p:cNvSpPr/>
          <p:nvPr/>
        </p:nvSpPr>
        <p:spPr>
          <a:xfrm>
            <a:off x="548640" y="3889248"/>
            <a:ext cx="3596640" cy="463296"/>
          </a:xfrm>
          <a:prstGeom prst="rect">
            <a:avLst/>
          </a:prstGeom>
          <a:solidFill>
            <a:srgbClr val="4A148C"/>
          </a:solidFill>
          <a:ln w="12700">
            <a:solidFill>
              <a:srgbClr val="4A148C"/>
            </a:solidFill>
            <a:prstDash val="solid"/>
          </a:ln>
        </p:spPr>
        <p:txBody>
          <a:bodyPr/>
          <a:lstStyle/>
          <a:p>
            <a:endParaRPr lang="en-IN"/>
          </a:p>
        </p:txBody>
      </p:sp>
      <p:sp>
        <p:nvSpPr>
          <p:cNvPr id="33" name="Text 31"/>
          <p:cNvSpPr/>
          <p:nvPr/>
        </p:nvSpPr>
        <p:spPr>
          <a:xfrm>
            <a:off x="731520" y="3889248"/>
            <a:ext cx="3230880" cy="463296"/>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Domain Extraction</a:t>
            </a:r>
            <a:endParaRPr lang="en-US" sz="1600" dirty="0"/>
          </a:p>
        </p:txBody>
      </p:sp>
      <p:sp>
        <p:nvSpPr>
          <p:cNvPr id="34" name="Text 32"/>
          <p:cNvSpPr/>
          <p:nvPr/>
        </p:nvSpPr>
        <p:spPr>
          <a:xfrm>
            <a:off x="768096" y="4474464"/>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python-whois</a:t>
            </a:r>
            <a:endParaRPr lang="en-US" sz="1467" dirty="0"/>
          </a:p>
        </p:txBody>
      </p:sp>
      <p:sp>
        <p:nvSpPr>
          <p:cNvPr id="35" name="Text 33"/>
          <p:cNvSpPr/>
          <p:nvPr/>
        </p:nvSpPr>
        <p:spPr>
          <a:xfrm>
            <a:off x="768096" y="4767072"/>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Domain registration WHOIS lookup</a:t>
            </a:r>
            <a:endParaRPr lang="en-US" sz="1267" dirty="0"/>
          </a:p>
        </p:txBody>
      </p:sp>
      <p:sp>
        <p:nvSpPr>
          <p:cNvPr id="36" name="Text 34"/>
          <p:cNvSpPr/>
          <p:nvPr/>
        </p:nvSpPr>
        <p:spPr>
          <a:xfrm>
            <a:off x="768096" y="5108448"/>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socket</a:t>
            </a:r>
            <a:endParaRPr lang="en-US" sz="1467" dirty="0"/>
          </a:p>
        </p:txBody>
      </p:sp>
      <p:sp>
        <p:nvSpPr>
          <p:cNvPr id="37" name="Text 35"/>
          <p:cNvSpPr/>
          <p:nvPr/>
        </p:nvSpPr>
        <p:spPr>
          <a:xfrm>
            <a:off x="768096" y="5401056"/>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Live DNS resolution</a:t>
            </a:r>
            <a:endParaRPr lang="en-US" sz="1267" dirty="0"/>
          </a:p>
        </p:txBody>
      </p:sp>
      <p:sp>
        <p:nvSpPr>
          <p:cNvPr id="38" name="Text 36"/>
          <p:cNvSpPr/>
          <p:nvPr/>
        </p:nvSpPr>
        <p:spPr>
          <a:xfrm>
            <a:off x="768096" y="5742432"/>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urllib / re</a:t>
            </a:r>
            <a:endParaRPr lang="en-US" sz="1467" dirty="0"/>
          </a:p>
        </p:txBody>
      </p:sp>
      <p:sp>
        <p:nvSpPr>
          <p:cNvPr id="39" name="Text 37"/>
          <p:cNvSpPr/>
          <p:nvPr/>
        </p:nvSpPr>
        <p:spPr>
          <a:xfrm>
            <a:off x="768096" y="6035040"/>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URL parsing &amp; regex pattern matching</a:t>
            </a:r>
            <a:endParaRPr lang="en-US" sz="1267" dirty="0"/>
          </a:p>
        </p:txBody>
      </p:sp>
      <p:sp>
        <p:nvSpPr>
          <p:cNvPr id="40" name="Shape 38"/>
          <p:cNvSpPr/>
          <p:nvPr/>
        </p:nvSpPr>
        <p:spPr>
          <a:xfrm>
            <a:off x="4297680" y="3889248"/>
            <a:ext cx="3596640" cy="2499360"/>
          </a:xfrm>
          <a:prstGeom prst="rect">
            <a:avLst/>
          </a:prstGeom>
          <a:solidFill>
            <a:srgbClr val="F4F7FB"/>
          </a:solidFill>
          <a:ln w="12700">
            <a:solidFill>
              <a:srgbClr val="DDE3ED"/>
            </a:solidFill>
            <a:prstDash val="solid"/>
          </a:ln>
          <a:effectLst>
            <a:outerShdw blurRad="63500" dist="25400" dir="8100000" algn="bl" rotWithShape="0">
              <a:srgbClr val="000000">
                <a:alpha val="8000"/>
              </a:srgbClr>
            </a:outerShdw>
          </a:effectLst>
        </p:spPr>
        <p:txBody>
          <a:bodyPr/>
          <a:lstStyle/>
          <a:p>
            <a:endParaRPr lang="en-IN"/>
          </a:p>
        </p:txBody>
      </p:sp>
      <p:sp>
        <p:nvSpPr>
          <p:cNvPr id="41" name="Shape 39"/>
          <p:cNvSpPr/>
          <p:nvPr/>
        </p:nvSpPr>
        <p:spPr>
          <a:xfrm>
            <a:off x="4297680" y="3889248"/>
            <a:ext cx="3596640" cy="463296"/>
          </a:xfrm>
          <a:prstGeom prst="rect">
            <a:avLst/>
          </a:prstGeom>
          <a:solidFill>
            <a:srgbClr val="00695C"/>
          </a:solidFill>
          <a:ln w="12700">
            <a:solidFill>
              <a:srgbClr val="00695C"/>
            </a:solidFill>
            <a:prstDash val="solid"/>
          </a:ln>
        </p:spPr>
        <p:txBody>
          <a:bodyPr/>
          <a:lstStyle/>
          <a:p>
            <a:endParaRPr lang="en-IN"/>
          </a:p>
        </p:txBody>
      </p:sp>
      <p:sp>
        <p:nvSpPr>
          <p:cNvPr id="42" name="Text 40"/>
          <p:cNvSpPr/>
          <p:nvPr/>
        </p:nvSpPr>
        <p:spPr>
          <a:xfrm>
            <a:off x="4480560" y="3889248"/>
            <a:ext cx="3230880" cy="463296"/>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Model Persistence</a:t>
            </a:r>
            <a:endParaRPr lang="en-US" sz="1600" dirty="0"/>
          </a:p>
        </p:txBody>
      </p:sp>
      <p:sp>
        <p:nvSpPr>
          <p:cNvPr id="43" name="Text 41"/>
          <p:cNvSpPr/>
          <p:nvPr/>
        </p:nvSpPr>
        <p:spPr>
          <a:xfrm>
            <a:off x="4517136" y="4474464"/>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joblib</a:t>
            </a:r>
            <a:endParaRPr lang="en-US" sz="1467" dirty="0"/>
          </a:p>
        </p:txBody>
      </p:sp>
      <p:sp>
        <p:nvSpPr>
          <p:cNvPr id="44" name="Text 42"/>
          <p:cNvSpPr/>
          <p:nvPr/>
        </p:nvSpPr>
        <p:spPr>
          <a:xfrm>
            <a:off x="4517136" y="4767072"/>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Save &amp; load .pkl model files</a:t>
            </a:r>
            <a:endParaRPr lang="en-US" sz="1267" dirty="0"/>
          </a:p>
        </p:txBody>
      </p:sp>
      <p:sp>
        <p:nvSpPr>
          <p:cNvPr id="45" name="Text 43"/>
          <p:cNvSpPr/>
          <p:nvPr/>
        </p:nvSpPr>
        <p:spPr>
          <a:xfrm>
            <a:off x="4517136" y="5108448"/>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scaler.pkl</a:t>
            </a:r>
            <a:endParaRPr lang="en-US" sz="1467" dirty="0"/>
          </a:p>
        </p:txBody>
      </p:sp>
      <p:sp>
        <p:nvSpPr>
          <p:cNvPr id="46" name="Text 44"/>
          <p:cNvSpPr/>
          <p:nvPr/>
        </p:nvSpPr>
        <p:spPr>
          <a:xfrm>
            <a:off x="4517136" y="5401056"/>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Pre-fitted StandardScaler</a:t>
            </a:r>
            <a:endParaRPr lang="en-US" sz="1267" dirty="0"/>
          </a:p>
        </p:txBody>
      </p:sp>
      <p:sp>
        <p:nvSpPr>
          <p:cNvPr id="47" name="Text 45"/>
          <p:cNvSpPr/>
          <p:nvPr/>
        </p:nvSpPr>
        <p:spPr>
          <a:xfrm>
            <a:off x="4517136" y="5742432"/>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xgbModel.pkl</a:t>
            </a:r>
            <a:endParaRPr lang="en-US" sz="1467" dirty="0"/>
          </a:p>
        </p:txBody>
      </p:sp>
      <p:sp>
        <p:nvSpPr>
          <p:cNvPr id="48" name="Text 46"/>
          <p:cNvSpPr/>
          <p:nvPr/>
        </p:nvSpPr>
        <p:spPr>
          <a:xfrm>
            <a:off x="4517136" y="6035040"/>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Serialized XGBoost classifier</a:t>
            </a:r>
            <a:endParaRPr lang="en-US" sz="1267" dirty="0"/>
          </a:p>
        </p:txBody>
      </p:sp>
      <p:sp>
        <p:nvSpPr>
          <p:cNvPr id="49" name="Shape 47"/>
          <p:cNvSpPr/>
          <p:nvPr/>
        </p:nvSpPr>
        <p:spPr>
          <a:xfrm>
            <a:off x="8046720" y="3889248"/>
            <a:ext cx="3596640" cy="2499360"/>
          </a:xfrm>
          <a:prstGeom prst="rect">
            <a:avLst/>
          </a:prstGeom>
          <a:solidFill>
            <a:srgbClr val="F4F7FB"/>
          </a:solidFill>
          <a:ln w="12700">
            <a:solidFill>
              <a:srgbClr val="DDE3ED"/>
            </a:solidFill>
            <a:prstDash val="solid"/>
          </a:ln>
          <a:effectLst>
            <a:outerShdw blurRad="63500" dist="25400" dir="8100000" algn="bl" rotWithShape="0">
              <a:srgbClr val="000000">
                <a:alpha val="8000"/>
              </a:srgbClr>
            </a:outerShdw>
          </a:effectLst>
        </p:spPr>
        <p:txBody>
          <a:bodyPr/>
          <a:lstStyle/>
          <a:p>
            <a:endParaRPr lang="en-IN"/>
          </a:p>
        </p:txBody>
      </p:sp>
      <p:sp>
        <p:nvSpPr>
          <p:cNvPr id="50" name="Shape 48"/>
          <p:cNvSpPr/>
          <p:nvPr/>
        </p:nvSpPr>
        <p:spPr>
          <a:xfrm>
            <a:off x="8046720" y="3889248"/>
            <a:ext cx="3596640" cy="463296"/>
          </a:xfrm>
          <a:prstGeom prst="rect">
            <a:avLst/>
          </a:prstGeom>
          <a:solidFill>
            <a:srgbClr val="B71C1C"/>
          </a:solidFill>
          <a:ln w="12700">
            <a:solidFill>
              <a:srgbClr val="B71C1C"/>
            </a:solidFill>
            <a:prstDash val="solid"/>
          </a:ln>
        </p:spPr>
        <p:txBody>
          <a:bodyPr/>
          <a:lstStyle/>
          <a:p>
            <a:endParaRPr lang="en-IN"/>
          </a:p>
        </p:txBody>
      </p:sp>
      <p:sp>
        <p:nvSpPr>
          <p:cNvPr id="51" name="Text 49"/>
          <p:cNvSpPr/>
          <p:nvPr/>
        </p:nvSpPr>
        <p:spPr>
          <a:xfrm>
            <a:off x="8229600" y="3889248"/>
            <a:ext cx="3230880" cy="463296"/>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Evaluation &amp; Visualization</a:t>
            </a:r>
            <a:endParaRPr lang="en-US" sz="1600" dirty="0"/>
          </a:p>
        </p:txBody>
      </p:sp>
      <p:sp>
        <p:nvSpPr>
          <p:cNvPr id="52" name="Text 50"/>
          <p:cNvSpPr/>
          <p:nvPr/>
        </p:nvSpPr>
        <p:spPr>
          <a:xfrm>
            <a:off x="8266176" y="4474464"/>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Matplotlib / Seaborn</a:t>
            </a:r>
            <a:endParaRPr lang="en-US" sz="1467" dirty="0"/>
          </a:p>
        </p:txBody>
      </p:sp>
      <p:sp>
        <p:nvSpPr>
          <p:cNvPr id="53" name="Text 51"/>
          <p:cNvSpPr/>
          <p:nvPr/>
        </p:nvSpPr>
        <p:spPr>
          <a:xfrm>
            <a:off x="8266176" y="4767072"/>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ROC curves · confusion matrix</a:t>
            </a:r>
            <a:endParaRPr lang="en-US" sz="1267" dirty="0"/>
          </a:p>
        </p:txBody>
      </p:sp>
      <p:sp>
        <p:nvSpPr>
          <p:cNvPr id="54" name="Text 52"/>
          <p:cNvSpPr/>
          <p:nvPr/>
        </p:nvSpPr>
        <p:spPr>
          <a:xfrm>
            <a:off x="8266176" y="5108448"/>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tracemalloc</a:t>
            </a:r>
            <a:endParaRPr lang="en-US" sz="1467" dirty="0"/>
          </a:p>
        </p:txBody>
      </p:sp>
      <p:sp>
        <p:nvSpPr>
          <p:cNvPr id="55" name="Text 53"/>
          <p:cNvSpPr/>
          <p:nvPr/>
        </p:nvSpPr>
        <p:spPr>
          <a:xfrm>
            <a:off x="8266176" y="5401056"/>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Peak memory profiling</a:t>
            </a:r>
            <a:endParaRPr lang="en-US" sz="1267" dirty="0"/>
          </a:p>
        </p:txBody>
      </p:sp>
      <p:sp>
        <p:nvSpPr>
          <p:cNvPr id="56" name="Text 54"/>
          <p:cNvSpPr/>
          <p:nvPr/>
        </p:nvSpPr>
        <p:spPr>
          <a:xfrm>
            <a:off x="8266176" y="5742432"/>
            <a:ext cx="3230880" cy="316992"/>
          </a:xfrm>
          <a:prstGeom prst="rect">
            <a:avLst/>
          </a:prstGeom>
          <a:noFill/>
          <a:ln/>
        </p:spPr>
        <p:txBody>
          <a:bodyPr wrap="square" rtlCol="0" anchor="ctr"/>
          <a:lstStyle/>
          <a:p>
            <a:r>
              <a:rPr lang="en-US" sz="1467" b="1" dirty="0">
                <a:solidFill>
                  <a:srgbClr val="1A3A6B"/>
                </a:solidFill>
                <a:latin typeface="Calibri" pitchFamily="34" charset="0"/>
                <a:ea typeface="Calibri" pitchFamily="34" charset="-122"/>
                <a:cs typeface="Calibri" pitchFamily="34" charset="-120"/>
              </a:rPr>
              <a:t>time module</a:t>
            </a:r>
            <a:endParaRPr lang="en-US" sz="1467" dirty="0"/>
          </a:p>
        </p:txBody>
      </p:sp>
      <p:sp>
        <p:nvSpPr>
          <p:cNvPr id="57" name="Text 55"/>
          <p:cNvSpPr/>
          <p:nvPr/>
        </p:nvSpPr>
        <p:spPr>
          <a:xfrm>
            <a:off x="8266176" y="6035040"/>
            <a:ext cx="3230880" cy="268224"/>
          </a:xfrm>
          <a:prstGeom prst="rect">
            <a:avLst/>
          </a:prstGeom>
          <a:noFill/>
          <a:ln/>
        </p:spPr>
        <p:txBody>
          <a:bodyPr wrap="square" rtlCol="0" anchor="ctr"/>
          <a:lstStyle/>
          <a:p>
            <a:r>
              <a:rPr lang="en-US" sz="1267" dirty="0">
                <a:solidFill>
                  <a:srgbClr val="555555"/>
                </a:solidFill>
                <a:latin typeface="Calibri" pitchFamily="34" charset="0"/>
                <a:ea typeface="Calibri" pitchFamily="34" charset="-122"/>
                <a:cs typeface="Calibri" pitchFamily="34" charset="-120"/>
              </a:rPr>
              <a:t>Prediction time measurement</a:t>
            </a:r>
            <a:endParaRPr lang="en-US" sz="1267" dirty="0"/>
          </a:p>
        </p:txBody>
      </p:sp>
      <p:sp>
        <p:nvSpPr>
          <p:cNvPr id="59" name="Text 57"/>
          <p:cNvSpPr/>
          <p:nvPr/>
        </p:nvSpPr>
        <p:spPr>
          <a:xfrm>
            <a:off x="365760" y="6681216"/>
            <a:ext cx="11460480" cy="176784"/>
          </a:xfrm>
          <a:prstGeom prst="rect">
            <a:avLst/>
          </a:prstGeom>
          <a:noFill/>
          <a:ln/>
        </p:spPr>
        <p:txBody>
          <a:bodyPr wrap="square" rtlCol="0" anchor="ctr"/>
          <a:lstStyle/>
          <a:p>
            <a:pPr algn="ct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11827" y="30480"/>
            <a:ext cx="5890590" cy="731520"/>
          </a:xfrm>
          <a:prstGeom prst="rect">
            <a:avLst/>
          </a:prstGeom>
          <a:noFill/>
          <a:ln/>
        </p:spPr>
        <p:txBody>
          <a:bodyPr wrap="square" lIns="0" tIns="0" rIns="0" bIns="0" rtlCol="0" anchor="ctr"/>
          <a:lstStyle/>
          <a:p>
            <a:r>
              <a:rPr lang="en-US" sz="3600" b="1" dirty="0">
                <a:solidFill>
                  <a:schemeClr val="accent1">
                    <a:lumMod val="50000"/>
                  </a:schemeClr>
                </a:solidFill>
                <a:latin typeface="Arial Black" pitchFamily="34" charset="0"/>
                <a:ea typeface="Arial Black" pitchFamily="34" charset="-122"/>
                <a:cs typeface="Arial Black" pitchFamily="34" charset="-120"/>
              </a:rPr>
              <a:t>References</a:t>
            </a:r>
            <a:endParaRPr lang="en-US" sz="3600" dirty="0">
              <a:solidFill>
                <a:schemeClr val="accent1">
                  <a:lumMod val="50000"/>
                </a:schemeClr>
              </a:solidFill>
            </a:endParaRPr>
          </a:p>
        </p:txBody>
      </p:sp>
      <p:sp>
        <p:nvSpPr>
          <p:cNvPr id="3" name="Text 1"/>
          <p:cNvSpPr/>
          <p:nvPr/>
        </p:nvSpPr>
        <p:spPr>
          <a:xfrm>
            <a:off x="1219200" y="1584960"/>
            <a:ext cx="10363200" cy="548640"/>
          </a:xfrm>
          <a:prstGeom prst="rect">
            <a:avLst/>
          </a:prstGeom>
          <a:noFill/>
          <a:ln/>
        </p:spPr>
        <p:txBody>
          <a:bodyPr wrap="square" rtlCol="0" anchor="ctr"/>
          <a:lstStyle/>
          <a:p>
            <a:r>
              <a:rPr lang="en-US" sz="1467" b="1" dirty="0">
                <a:solidFill>
                  <a:srgbClr val="028090"/>
                </a:solidFill>
                <a:latin typeface="Calibri" pitchFamily="34" charset="0"/>
                <a:ea typeface="Calibri" pitchFamily="34" charset="-122"/>
                <a:cs typeface="Calibri" pitchFamily="34" charset="-120"/>
              </a:rPr>
              <a:t>[1]</a:t>
            </a:r>
            <a:r>
              <a:rPr lang="en-IN" sz="1467" b="1" dirty="0"/>
              <a:t> A. Mandadi, S. Boppana, V. Ravella, and R. Kavitha,</a:t>
            </a:r>
            <a:r>
              <a:rPr lang="en-IN" sz="1467" dirty="0"/>
              <a:t> “Phishing Website Detection Using Machine Learning,” </a:t>
            </a:r>
            <a:r>
              <a:rPr lang="en-IN" sz="1467" i="1" dirty="0"/>
              <a:t>in Proc. 2022 IEEE 7th                     Int. Conf. Convergence Technol. (I2CT)</a:t>
            </a:r>
            <a:r>
              <a:rPr lang="en-IN" sz="1467" dirty="0"/>
              <a:t>, Pune, India, Apr. 2022, pp. [pages], </a:t>
            </a:r>
            <a:r>
              <a:rPr lang="en-IN" sz="1467" dirty="0" err="1"/>
              <a:t>doi</a:t>
            </a:r>
            <a:r>
              <a:rPr lang="en-IN" sz="1467" dirty="0"/>
              <a:t>: </a:t>
            </a:r>
            <a:r>
              <a:rPr lang="en-IN" sz="1467" b="1" dirty="0"/>
              <a:t>10.1109/I2CT54291.2022.9824801.</a:t>
            </a:r>
            <a:endParaRPr lang="en-US" sz="1467" dirty="0"/>
          </a:p>
        </p:txBody>
      </p:sp>
      <p:sp>
        <p:nvSpPr>
          <p:cNvPr id="4" name="Text 2"/>
          <p:cNvSpPr/>
          <p:nvPr/>
        </p:nvSpPr>
        <p:spPr>
          <a:xfrm>
            <a:off x="1219200" y="2218944"/>
            <a:ext cx="9753600" cy="548640"/>
          </a:xfrm>
          <a:prstGeom prst="rect">
            <a:avLst/>
          </a:prstGeom>
          <a:noFill/>
          <a:ln/>
        </p:spPr>
        <p:txBody>
          <a:bodyPr wrap="square" rtlCol="0" anchor="ctr"/>
          <a:lstStyle/>
          <a:p>
            <a:r>
              <a:rPr lang="en-US" sz="1467" b="1" dirty="0">
                <a:solidFill>
                  <a:srgbClr val="028090"/>
                </a:solidFill>
                <a:latin typeface="Calibri" pitchFamily="34" charset="0"/>
                <a:ea typeface="Calibri" pitchFamily="34" charset="-122"/>
                <a:cs typeface="Calibri" pitchFamily="34" charset="-120"/>
              </a:rPr>
              <a:t>[2] </a:t>
            </a:r>
            <a:r>
              <a:rPr lang="en-IN" sz="1467" dirty="0"/>
              <a:t>E. S. Boakai and M. Shabaz, “Deep feature fusion for phishing website detection using URL‑based features,” </a:t>
            </a:r>
            <a:r>
              <a:rPr lang="en-IN" sz="1467" i="1" dirty="0"/>
              <a:t>IEEE Communications Standards Magazine</a:t>
            </a:r>
            <a:r>
              <a:rPr lang="en-IN" sz="1467" dirty="0"/>
              <a:t>, vol. 9, 2025, </a:t>
            </a:r>
            <a:r>
              <a:rPr lang="en-IN" sz="1467" b="1" dirty="0" err="1"/>
              <a:t>doi</a:t>
            </a:r>
            <a:r>
              <a:rPr lang="en-IN" sz="1467" b="1" dirty="0"/>
              <a:t>:</a:t>
            </a:r>
            <a:r>
              <a:rPr lang="en-IN" sz="1467" dirty="0"/>
              <a:t> 10.1109/MCOMSTD.2025.3626765.</a:t>
            </a:r>
            <a:endParaRPr lang="en-US" sz="1467" dirty="0"/>
          </a:p>
        </p:txBody>
      </p:sp>
      <p:sp>
        <p:nvSpPr>
          <p:cNvPr id="5" name="Text 3"/>
          <p:cNvSpPr/>
          <p:nvPr/>
        </p:nvSpPr>
        <p:spPr>
          <a:xfrm>
            <a:off x="1219200" y="2852928"/>
            <a:ext cx="9753600" cy="548640"/>
          </a:xfrm>
          <a:prstGeom prst="rect">
            <a:avLst/>
          </a:prstGeom>
          <a:noFill/>
          <a:ln/>
        </p:spPr>
        <p:txBody>
          <a:bodyPr wrap="square" rtlCol="0" anchor="ctr"/>
          <a:lstStyle/>
          <a:p>
            <a:r>
              <a:rPr lang="en-US" sz="1467" b="1" dirty="0">
                <a:solidFill>
                  <a:srgbClr val="028090"/>
                </a:solidFill>
                <a:latin typeface="Calibri" pitchFamily="34" charset="0"/>
                <a:ea typeface="Calibri" pitchFamily="34" charset="-122"/>
                <a:cs typeface="Calibri" pitchFamily="34" charset="-120"/>
              </a:rPr>
              <a:t>[3] </a:t>
            </a:r>
            <a:r>
              <a:rPr lang="en-US" sz="1467" dirty="0">
                <a:solidFill>
                  <a:srgbClr val="1F2937"/>
                </a:solidFill>
                <a:latin typeface="Calibri" pitchFamily="34" charset="0"/>
                <a:ea typeface="Calibri" pitchFamily="34" charset="-122"/>
                <a:cs typeface="Calibri" pitchFamily="34" charset="-120"/>
              </a:rPr>
              <a:t>XGBoost Documentation: Extreme Gradient Boosting. https://xgboost.readthedocs.io/</a:t>
            </a:r>
            <a:endParaRPr lang="en-US" sz="1467" dirty="0"/>
          </a:p>
        </p:txBody>
      </p:sp>
      <p:sp>
        <p:nvSpPr>
          <p:cNvPr id="6" name="Text 4"/>
          <p:cNvSpPr/>
          <p:nvPr/>
        </p:nvSpPr>
        <p:spPr>
          <a:xfrm>
            <a:off x="1219200" y="3486912"/>
            <a:ext cx="9753600" cy="548640"/>
          </a:xfrm>
          <a:prstGeom prst="rect">
            <a:avLst/>
          </a:prstGeom>
          <a:noFill/>
          <a:ln/>
        </p:spPr>
        <p:txBody>
          <a:bodyPr wrap="square" rtlCol="0" anchor="ctr"/>
          <a:lstStyle/>
          <a:p>
            <a:r>
              <a:rPr lang="en-US" sz="1467" b="1" dirty="0">
                <a:solidFill>
                  <a:srgbClr val="028090"/>
                </a:solidFill>
                <a:latin typeface="Calibri" pitchFamily="34" charset="0"/>
                <a:ea typeface="Calibri" pitchFamily="34" charset="-122"/>
                <a:cs typeface="Calibri" pitchFamily="34" charset="-120"/>
              </a:rPr>
              <a:t>[4] ]</a:t>
            </a:r>
            <a:r>
              <a:rPr lang="en-US" sz="1467" dirty="0">
                <a:solidFill>
                  <a:srgbClr val="1F2937"/>
                </a:solidFill>
                <a:latin typeface="Calibri" pitchFamily="34" charset="0"/>
                <a:ea typeface="Calibri" pitchFamily="34" charset="-122"/>
                <a:cs typeface="Calibri" pitchFamily="34" charset="-120"/>
              </a:rPr>
              <a:t> scikit-learn Documentation: Machine Learning in Python. https://scikit-learn.org/</a:t>
            </a:r>
            <a:endParaRPr lang="en-US" sz="1467" dirty="0"/>
          </a:p>
        </p:txBody>
      </p:sp>
      <p:sp>
        <p:nvSpPr>
          <p:cNvPr id="7" name="Text 5"/>
          <p:cNvSpPr/>
          <p:nvPr/>
        </p:nvSpPr>
        <p:spPr>
          <a:xfrm>
            <a:off x="1219200" y="4120896"/>
            <a:ext cx="9753600" cy="548640"/>
          </a:xfrm>
          <a:prstGeom prst="rect">
            <a:avLst/>
          </a:prstGeom>
          <a:noFill/>
          <a:ln/>
        </p:spPr>
        <p:txBody>
          <a:bodyPr wrap="square" rtlCol="0" anchor="ctr"/>
          <a:lstStyle/>
          <a:p>
            <a:r>
              <a:rPr lang="en-US" sz="1467" b="1" dirty="0">
                <a:solidFill>
                  <a:srgbClr val="028090"/>
                </a:solidFill>
                <a:latin typeface="Calibri" pitchFamily="34" charset="0"/>
                <a:ea typeface="Calibri" pitchFamily="34" charset="-122"/>
                <a:cs typeface="Calibri" pitchFamily="34" charset="-120"/>
              </a:rPr>
              <a:t>[5] </a:t>
            </a:r>
            <a:r>
              <a:rPr lang="en-US" sz="1467" dirty="0">
                <a:solidFill>
                  <a:srgbClr val="1F2937"/>
                </a:solidFill>
                <a:latin typeface="Calibri" pitchFamily="34" charset="0"/>
                <a:ea typeface="Calibri" pitchFamily="34" charset="-122"/>
                <a:cs typeface="Calibri" pitchFamily="34" charset="-120"/>
              </a:rPr>
              <a:t>UCI Machine Learning Repository: Phishing Websites Dataset: https://archive.ics.uci.edu/dataset/327/phishing+websites</a:t>
            </a:r>
            <a:endParaRPr lang="en-US" sz="1467" dirty="0"/>
          </a:p>
        </p:txBody>
      </p:sp>
      <p:sp>
        <p:nvSpPr>
          <p:cNvPr id="8" name="Text 6"/>
          <p:cNvSpPr/>
          <p:nvPr/>
        </p:nvSpPr>
        <p:spPr>
          <a:xfrm>
            <a:off x="1219200" y="4754880"/>
            <a:ext cx="9753600" cy="548640"/>
          </a:xfrm>
          <a:prstGeom prst="rect">
            <a:avLst/>
          </a:prstGeom>
          <a:noFill/>
          <a:ln/>
        </p:spPr>
        <p:txBody>
          <a:bodyPr wrap="square" rtlCol="0" anchor="ctr"/>
          <a:lstStyle/>
          <a:p>
            <a:r>
              <a:rPr lang="en-US" sz="1467" b="1" dirty="0">
                <a:solidFill>
                  <a:srgbClr val="028090"/>
                </a:solidFill>
                <a:latin typeface="Calibri" pitchFamily="34" charset="0"/>
                <a:ea typeface="Calibri" pitchFamily="34" charset="-122"/>
                <a:cs typeface="Calibri" pitchFamily="34" charset="-120"/>
              </a:rPr>
              <a:t>[6]</a:t>
            </a:r>
            <a:r>
              <a:rPr lang="en-US" sz="1467" dirty="0">
                <a:solidFill>
                  <a:srgbClr val="1F2937"/>
                </a:solidFill>
                <a:latin typeface="Calibri" pitchFamily="34" charset="0"/>
                <a:ea typeface="Calibri" pitchFamily="34" charset="-122"/>
                <a:cs typeface="Calibri" pitchFamily="34" charset="-120"/>
              </a:rPr>
              <a:t> scikit-learn Documentation: Machine Learning in Python. https://scikit-learn.org/</a:t>
            </a:r>
            <a:endParaRPr lang="en-US" sz="1467" dirty="0"/>
          </a:p>
        </p:txBody>
      </p:sp>
      <p:sp>
        <p:nvSpPr>
          <p:cNvPr id="9" name="Text 7"/>
          <p:cNvSpPr/>
          <p:nvPr/>
        </p:nvSpPr>
        <p:spPr>
          <a:xfrm>
            <a:off x="1219200" y="5388864"/>
            <a:ext cx="9753600" cy="548640"/>
          </a:xfrm>
          <a:prstGeom prst="rect">
            <a:avLst/>
          </a:prstGeom>
          <a:noFill/>
          <a:ln/>
        </p:spPr>
        <p:txBody>
          <a:bodyPr wrap="square" rtlCol="0" anchor="ctr"/>
          <a:lstStyle/>
          <a:p>
            <a:r>
              <a:rPr lang="en-US" sz="1467" b="1" dirty="0">
                <a:solidFill>
                  <a:srgbClr val="028090"/>
                </a:solidFill>
                <a:latin typeface="Calibri" pitchFamily="34" charset="0"/>
                <a:ea typeface="Calibri" pitchFamily="34" charset="-122"/>
                <a:cs typeface="Calibri" pitchFamily="34" charset="-120"/>
              </a:rPr>
              <a:t>[7] </a:t>
            </a:r>
            <a:r>
              <a:rPr lang="en-US" sz="1467" dirty="0">
                <a:solidFill>
                  <a:srgbClr val="1F2937"/>
                </a:solidFill>
                <a:latin typeface="Calibri" pitchFamily="34" charset="0"/>
                <a:ea typeface="Calibri" pitchFamily="34" charset="-122"/>
                <a:cs typeface="Calibri" pitchFamily="34" charset="-120"/>
              </a:rPr>
              <a:t>https://www.tutorialspoint.com/machine_learning/index.htm</a:t>
            </a:r>
            <a:endParaRPr lang="en-US" sz="1467" dirty="0"/>
          </a:p>
        </p:txBody>
      </p:sp>
      <p:sp>
        <p:nvSpPr>
          <p:cNvPr id="10" name="Text 8"/>
          <p:cNvSpPr/>
          <p:nvPr/>
        </p:nvSpPr>
        <p:spPr>
          <a:xfrm>
            <a:off x="1219200" y="6096000"/>
            <a:ext cx="9753600" cy="365760"/>
          </a:xfrm>
          <a:prstGeom prst="rect">
            <a:avLst/>
          </a:prstGeom>
          <a:noFill/>
          <a:ln/>
        </p:spPr>
        <p:txBody>
          <a:bodyPr wrap="square" rtlCol="0" anchor="ctr"/>
          <a:lstStyle/>
          <a:p>
            <a:pPr algn="ctr"/>
            <a:endParaRPr lang="en-US" sz="1333"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438399"/>
            <a:ext cx="10972800" cy="1984513"/>
          </a:xfrm>
          <a:prstGeom prst="rect">
            <a:avLst/>
          </a:prstGeom>
          <a:noFill/>
          <a:ln/>
        </p:spPr>
        <p:txBody>
          <a:bodyPr wrap="square" rtlCol="0" anchor="ctr"/>
          <a:lstStyle/>
          <a:p>
            <a:pPr algn="ctr"/>
            <a:r>
              <a:rPr lang="en-US" sz="9600" b="1" dirty="0">
                <a:solidFill>
                  <a:schemeClr val="accent1">
                    <a:lumMod val="50000"/>
                  </a:schemeClr>
                </a:solidFill>
                <a:latin typeface="Arial Black" pitchFamily="34" charset="0"/>
                <a:ea typeface="Arial Black" pitchFamily="34" charset="-122"/>
                <a:cs typeface="Arial Black" pitchFamily="34" charset="-120"/>
              </a:rPr>
              <a:t>Thank You</a:t>
            </a:r>
            <a:endParaRPr lang="en-US" sz="9600" dirty="0">
              <a:solidFill>
                <a:schemeClr val="accent1">
                  <a:lumMod val="50000"/>
                </a:schemeClr>
              </a:solidFill>
            </a:endParaRPr>
          </a:p>
        </p:txBody>
      </p:sp>
      <p:sp>
        <p:nvSpPr>
          <p:cNvPr id="3" name="Text 1"/>
          <p:cNvSpPr/>
          <p:nvPr/>
        </p:nvSpPr>
        <p:spPr>
          <a:xfrm>
            <a:off x="609600" y="3657600"/>
            <a:ext cx="10972800" cy="609600"/>
          </a:xfrm>
          <a:prstGeom prst="rect">
            <a:avLst/>
          </a:prstGeom>
          <a:noFill/>
          <a:ln/>
        </p:spPr>
        <p:txBody>
          <a:bodyPr wrap="square" rtlCol="0" anchor="ctr"/>
          <a:lstStyle/>
          <a:p>
            <a:pPr algn="ctr"/>
            <a:endParaRPr lang="en-US" sz="266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REVIEW</Template>
  <TotalTime>950</TotalTime>
  <Words>1311</Words>
  <Application>Microsoft Office PowerPoint</Application>
  <PresentationFormat>Widescreen</PresentationFormat>
  <Paragraphs>146</Paragraphs>
  <Slides>23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Arial Black</vt:lpstr>
      <vt:lpstr>Arial MT</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KEERTHI</dc:creator>
  <cp:lastModifiedBy>Gun Don</cp:lastModifiedBy>
  <cp:revision>25</cp:revision>
  <dcterms:created xsi:type="dcterms:W3CDTF">2025-03-02T09:05:02Z</dcterms:created>
  <dcterms:modified xsi:type="dcterms:W3CDTF">2026-06-03T16:10:43Z</dcterms:modified>
</cp:coreProperties>
</file>